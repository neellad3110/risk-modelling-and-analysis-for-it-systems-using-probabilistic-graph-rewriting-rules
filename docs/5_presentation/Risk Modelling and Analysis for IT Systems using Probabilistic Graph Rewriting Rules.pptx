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89" r:id="rId2"/>
    <p:sldId id="290" r:id="rId3"/>
    <p:sldId id="266" r:id="rId4"/>
    <p:sldId id="304" r:id="rId5"/>
    <p:sldId id="297" r:id="rId6"/>
    <p:sldId id="298" r:id="rId7"/>
    <p:sldId id="293" r:id="rId8"/>
    <p:sldId id="305" r:id="rId9"/>
    <p:sldId id="300" r:id="rId10"/>
    <p:sldId id="299" r:id="rId11"/>
    <p:sldId id="306" r:id="rId12"/>
    <p:sldId id="308" r:id="rId13"/>
    <p:sldId id="301" r:id="rId14"/>
    <p:sldId id="307" r:id="rId15"/>
    <p:sldId id="302" r:id="rId16"/>
    <p:sldId id="309" r:id="rId17"/>
    <p:sldId id="303" r:id="rId18"/>
    <p:sldId id="310" r:id="rId19"/>
    <p:sldId id="271" r:id="rId20"/>
    <p:sldId id="25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20" autoAdjust="0"/>
    <p:restoredTop sz="94660"/>
  </p:normalViewPr>
  <p:slideViewPr>
    <p:cSldViewPr snapToGrid="0">
      <p:cViewPr>
        <p:scale>
          <a:sx n="100" d="100"/>
          <a:sy n="100" d="100"/>
        </p:scale>
        <p:origin x="5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Probability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CE9-407D-B698-565CB564C020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CE9-407D-B698-565CB564C020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CE9-407D-B698-565CB564C02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Outcome 1</c:v>
                </c:pt>
                <c:pt idx="1">
                  <c:v>Outcome 2</c:v>
                </c:pt>
                <c:pt idx="2">
                  <c:v>Outcome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</c:v>
                </c:pt>
                <c:pt idx="1">
                  <c:v>0.4</c:v>
                </c:pt>
                <c:pt idx="2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31-4E94-BE24-1D4E3CC3FB56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9E969B-C11D-46F9-ACE8-EE33CA895EC9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71BE83-5F4E-4F99-8243-DE4A8C4C66D3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82A12F1-7B0F-40B6-9FE4-DB755C6A506E}" type="datetime1">
              <a: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11/09/2025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5BE37D-D652-41EA-BE46-6905881662AD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E1BC4-C6EA-4BE7-A86A-EC0EF84EEA4A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C04DB9-EDBF-434E-9E13-A7578E626D4E}" type="slidenum">
              <a:t>‹#›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6794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7EA38E-7EE9-417B-ABEA-799F28DE3D13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3A2A3-B39E-418C-B432-B972771B64C7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777FE038-0F78-4E68-81EF-1D4BBFBB3D15}" type="datetime1">
              <a:rPr lang="en-GB"/>
              <a:pPr lvl="0"/>
              <a:t>11/09/2025</a:t>
            </a:fld>
            <a:endParaRPr lang="en-GB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B40B575-F880-4FDB-9B11-4189890523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DDF1F4B-37BC-40A7-AC93-BF56E12BF55A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833C3-C1B1-4663-802C-BB4B3DDD5E9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B34C1-0479-4F9A-AE21-588905C2B4B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2EA7CCAB-14CD-4A6F-8018-849BB17D1E0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2684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3E4993-D888-42E3-BB15-DEC016444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93B83-479D-4903-B6F0-435342EDF2F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A386B-9A3B-4E99-8441-C430193285E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6503ACF-AB52-4ACF-9B01-F7B427DFD173}" type="slidenum">
              <a:t>1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98D4A-B5C5-4A51-BFB9-4D14D8FB3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A297C6-C3FD-4780-9911-F96228E7B9E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2E0EB-3067-44CB-955D-4D29410B5B1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C7ADED3-11B2-42EA-952E-946B4AE6F000}" type="slidenum">
              <a:t>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4AAC2-ED14-450F-AF02-BB10720F1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2D9EA-D7A8-4C07-AD4D-69B54E1F880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CC37F-6B31-4874-A3A8-4F97033FD27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556BDE7-0DEA-4C72-AA06-50640600C745}" type="slidenum">
              <a:t>3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A4C2D-03C4-88E6-D0F3-106EF769B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7EBD6-223E-1BDF-F487-65CAEE345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C0201-DC12-0518-A590-3F287F77630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796BB-FCF5-CE28-EF5D-E7001D7D26D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C7ADED3-11B2-42EA-952E-946B4AE6F000}" type="slidenum">
              <a:t>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3045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81FF2-C8BB-39A5-A44A-828F15A5A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AA4B4-B07D-CD1B-2152-6C446F0A0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CAE65-A864-C0D7-69B0-B848FC9B4C4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D2EF9-D003-C2F1-BBB6-BA468E0F846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C7ADED3-11B2-42EA-952E-946B4AE6F000}" type="slidenum">
              <a:t>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7706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F63FC-B71E-F687-A505-35A755F33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A47C17-3002-4A72-1DF6-91CADC1FE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E69531-523A-D8CC-0350-D13CD2D39D1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ADBC9-1DB8-9E0C-8865-3A31636224C8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C7ADED3-11B2-42EA-952E-946B4AE6F000}" type="slidenum">
              <a:t>7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415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99235-2F81-18C0-BD09-AE72F915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4CDDB-056D-2401-A720-CA6BE9F47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ADC251-781C-8BFA-9CD1-27EEC2D3FA6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400BF-E221-F967-CB01-502A78ECEBA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C7ADED3-11B2-42EA-952E-946B4AE6F000}" type="slidenum">
              <a:t>8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2305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0139B-6698-8152-4A31-802F533F9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70ADB4-FEEA-6715-5B0A-A3AB3845B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AB5E80-4E53-07F5-F0A6-6584AB4E8DE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5995D-C0EF-17DC-C8AB-206375D6425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C7ADED3-11B2-42EA-952E-946B4AE6F000}" type="slidenum">
              <a:t>9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82793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3311-6C04-8CD5-0C14-E1A7AB0FA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DD671-FD5B-B8CD-568C-F0A31DAC9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D943B-C75E-D6CA-487C-764DB40921C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F0578-F4F0-27EB-953A-E32F8485BE8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C7ADED3-11B2-42EA-952E-946B4AE6F000}" type="slidenum">
              <a:t>10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5613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7DE24-83EC-EDF6-6368-D0096CC54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0E82BD-3601-4DF9-DA72-78C491DE0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E20CB-8DDC-BF14-1229-8BF7784B6C0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D3888-A2C7-4093-E1BE-C902BEC79EA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C7ADED3-11B2-42EA-952E-946B4AE6F000}" type="slidenum">
              <a:t>11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3763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D697C-88F6-A79F-7115-48959ED12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5C21B-CC69-FF34-94FB-0CECD6D93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D13D9-2323-65F6-60D9-8D9E5CB25D6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DA145-2479-EEF8-0096-A11BE639EBC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C7ADED3-11B2-42EA-952E-946B4AE6F000}" type="slidenum">
              <a:t>12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9402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1BB65-E330-B03F-4C09-91C17B79B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DB003-03D7-98CB-8B43-20DA5CD69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03DC50-12B9-8CE4-B153-8755088BDC9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7DE1D-BB98-D213-973F-D4BCB0DFFB1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C7ADED3-11B2-42EA-952E-946B4AE6F000}" type="slidenum">
              <a:t>13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2581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A5EFF-71F6-1C7F-65AD-023B0823E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782B6-D61A-D4A0-EF87-AF1AC0B6E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C3DF9-1B83-637E-1B89-A616C596238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DF808-41D5-C647-3975-8D28AA6F16E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C7ADED3-11B2-42EA-952E-946B4AE6F000}" type="slidenum">
              <a:t>14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64981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5DAE-90BC-8455-E3E8-412FA650B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426C9-176D-C27B-3B06-0E397B3CF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72A469-9948-CBE9-B328-DD75B85EC88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DF52C-8C47-D6D9-E36F-518747D30EB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C7ADED3-11B2-42EA-952E-946B4AE6F000}" type="slidenum">
              <a:t>15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1206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519AA-E9C9-75BE-B11C-8408B2D59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CECB96-E38D-CDEE-25FE-ABA7E7C4E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7E7132-09B7-D7BE-E495-2002DCCF142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F8730-0D0A-4104-E010-F00B348AF42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C7ADED3-11B2-42EA-952E-946B4AE6F000}" type="slidenum">
              <a:t>16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30180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736FD-877F-9D8E-281D-20ADFE9DD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20C8EF-1FF4-2449-FE16-F1BB8714C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F7607-2E35-A622-393C-D3CBA849941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7F39D-E2D5-8423-4257-99D691E4A788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C7ADED3-11B2-42EA-952E-946B4AE6F000}" type="slidenum">
              <a:t>17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74054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83760-C83A-0575-A12F-2AE619358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CE268-9698-C52D-A244-630580F71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7095C6-ABB3-1815-56C1-C84F8775F74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D1AEC-7A40-BB89-8FA4-25318BB4A77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C7ADED3-11B2-42EA-952E-946B4AE6F000}" type="slidenum">
              <a:t>18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48360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6B32A1-E76F-438B-A687-52A123B0C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99CF61-F8DB-4E15-ACBE-E7362ABD335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EE4A8-E476-436D-8F71-63591D562DCC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F1D5F90-A0A7-4F3D-A29F-709BE3D3C1B4}" type="slidenum">
              <a:t>19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5AD5A-8EE6-45DC-B9D6-1F1D4404B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3A4BA-2AC1-4B07-9759-2FEEA65E45A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709AF-473B-4F53-AEFE-953F68759C7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A58B4CD-25EF-440B-A887-E62B5E2ECA8D}" type="slidenum">
              <a:t>20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D19-3519-4389-95B8-3B29CA72E71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416043" y="4434840"/>
            <a:ext cx="4941774" cy="1122206"/>
          </a:xfrm>
        </p:spPr>
        <p:txBody>
          <a:bodyPr anchor="b">
            <a:noAutofit/>
          </a:bodyPr>
          <a:lstStyle>
            <a:lvl1pPr>
              <a:defRPr lang="en-GB" sz="3600" spc="150"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987BDD-0CFF-4467-A299-68507D1D0FF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416043" y="5586892"/>
            <a:ext cx="4941774" cy="39665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4" name="Graphic 7">
            <a:extLst>
              <a:ext uri="{FF2B5EF4-FFF2-40B4-BE49-F238E27FC236}">
                <a16:creationId xmlns:a16="http://schemas.microsoft.com/office/drawing/2014/main" id="{4AE2B8E7-F1E6-459E-9899-2DB00798C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>
            <a:fillRect/>
          </a:stretch>
        </p:blipFill>
        <p:spPr>
          <a:xfrm>
            <a:off x="0" y="0"/>
            <a:ext cx="9488308" cy="5054318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088738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7">
            <a:extLst>
              <a:ext uri="{FF2B5EF4-FFF2-40B4-BE49-F238E27FC236}">
                <a16:creationId xmlns:a16="http://schemas.microsoft.com/office/drawing/2014/main" id="{75B1243B-7577-4C51-86BF-79308E79E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>
            <a:fillRect/>
          </a:stretch>
        </p:blipFill>
        <p:spPr>
          <a:xfrm>
            <a:off x="5488814" y="0"/>
            <a:ext cx="6703182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F153F2C-59EC-4CBB-8A6C-E17A18185D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3496" y="1020442"/>
            <a:ext cx="3171825" cy="1325559"/>
          </a:xfrm>
        </p:spPr>
        <p:txBody>
          <a:bodyPr anchor="b"/>
          <a:lstStyle>
            <a:lvl1pPr>
              <a:defRPr lang="en-GB" sz="280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52A0F81-6A78-4CD9-80D6-20FEFD8419D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33496" y="2924178"/>
            <a:ext cx="3171825" cy="2519364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rgbClr val="FFFFFF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rgbClr val="FFFFFF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rgbClr val="FFFFFF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11E3E0A-A695-4310-83C6-60C8FA5CBDC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1333496" y="6356351"/>
            <a:ext cx="985156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00A2A5C-3F18-4C68-A5CC-198AE56C98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2669883" y="6356351"/>
            <a:ext cx="2482842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nvl2 : 249025520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57D351-22A1-4524-9A48-4B552AC4723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5536307" y="6356351"/>
            <a:ext cx="987552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8F1DB375-3FE4-4F2C-8DA7-D54FEE1E44D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749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10">
            <a:extLst>
              <a:ext uri="{FF2B5EF4-FFF2-40B4-BE49-F238E27FC236}">
                <a16:creationId xmlns:a16="http://schemas.microsoft.com/office/drawing/2014/main" id="{92CDC05F-2EBF-4819-B4D6-B790D614784F}"/>
              </a:ext>
            </a:extLst>
          </p:cNvPr>
          <p:cNvSpPr/>
          <p:nvPr/>
        </p:nvSpPr>
        <p:spPr>
          <a:xfrm>
            <a:off x="2113882" y="0"/>
            <a:ext cx="10078114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0078116"/>
              <a:gd name="f7" fmla="val 6858000"/>
              <a:gd name="f8" fmla="val 3793236"/>
              <a:gd name="f9" fmla="+- 0 0 -90"/>
              <a:gd name="f10" fmla="*/ f3 1 10078116"/>
              <a:gd name="f11" fmla="*/ f4 1 6858000"/>
              <a:gd name="f12" fmla="+- f7 0 f5"/>
              <a:gd name="f13" fmla="+- f6 0 f5"/>
              <a:gd name="f14" fmla="*/ f9 f0 1"/>
              <a:gd name="f15" fmla="*/ f13 1 10078116"/>
              <a:gd name="f16" fmla="*/ f12 1 6858000"/>
              <a:gd name="f17" fmla="*/ 3793236 f13 1"/>
              <a:gd name="f18" fmla="*/ 6858000 f12 1"/>
              <a:gd name="f19" fmla="*/ 0 f13 1"/>
              <a:gd name="f20" fmla="*/ 0 f12 1"/>
              <a:gd name="f21" fmla="*/ 10078116 f13 1"/>
              <a:gd name="f22" fmla="*/ f14 1 f2"/>
              <a:gd name="f23" fmla="*/ f17 1 10078116"/>
              <a:gd name="f24" fmla="*/ f18 1 6858000"/>
              <a:gd name="f25" fmla="*/ f19 1 10078116"/>
              <a:gd name="f26" fmla="*/ f20 1 6858000"/>
              <a:gd name="f27" fmla="*/ f21 1 10078116"/>
              <a:gd name="f28" fmla="*/ f5 1 f15"/>
              <a:gd name="f29" fmla="*/ f6 1 f15"/>
              <a:gd name="f30" fmla="*/ f5 1 f16"/>
              <a:gd name="f31" fmla="*/ f7 1 f16"/>
              <a:gd name="f32" fmla="+- f22 0 f1"/>
              <a:gd name="f33" fmla="*/ f23 1 f15"/>
              <a:gd name="f34" fmla="*/ f24 1 f16"/>
              <a:gd name="f35" fmla="*/ f25 1 f15"/>
              <a:gd name="f36" fmla="*/ f26 1 f16"/>
              <a:gd name="f37" fmla="*/ f27 1 f15"/>
              <a:gd name="f38" fmla="*/ f28 f10 1"/>
              <a:gd name="f39" fmla="*/ f29 f10 1"/>
              <a:gd name="f40" fmla="*/ f31 f11 1"/>
              <a:gd name="f41" fmla="*/ f30 f11 1"/>
              <a:gd name="f42" fmla="*/ f33 f10 1"/>
              <a:gd name="f43" fmla="*/ f34 f11 1"/>
              <a:gd name="f44" fmla="*/ f35 f10 1"/>
              <a:gd name="f45" fmla="*/ f36 f11 1"/>
              <a:gd name="f46" fmla="*/ f37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42" y="f43"/>
              </a:cxn>
              <a:cxn ang="f32">
                <a:pos x="f44" y="f45"/>
              </a:cxn>
              <a:cxn ang="f32">
                <a:pos x="f46" y="f45"/>
              </a:cxn>
              <a:cxn ang="f32">
                <a:pos x="f46" y="f43"/>
              </a:cxn>
            </a:cxnLst>
            <a:rect l="f38" t="f41" r="f39" b="f40"/>
            <a:pathLst>
              <a:path w="10078116" h="6858000">
                <a:moveTo>
                  <a:pt x="f8" y="f7"/>
                </a:moveTo>
                <a:lnTo>
                  <a:pt x="f5" y="f5"/>
                </a:lnTo>
                <a:lnTo>
                  <a:pt x="f6" y="f5"/>
                </a:lnTo>
                <a:lnTo>
                  <a:pt x="f6" y="f7"/>
                </a:lnTo>
                <a:close/>
              </a:path>
            </a:pathLst>
          </a:custGeom>
          <a:solidFill>
            <a:srgbClr val="E9E6D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Tenorite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40A3507-21E4-49C7-BE41-D5B636D571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5509415"/>
            <a:ext cx="4082137" cy="585792"/>
          </a:xfrm>
        </p:spPr>
        <p:txBody>
          <a:bodyPr/>
          <a:lstStyle>
            <a:lvl1pPr>
              <a:defRPr lang="en-GB" sz="2800" spc="150"/>
            </a:lvl1pPr>
          </a:lstStyle>
          <a:p>
            <a:pPr lvl="0"/>
            <a:r>
              <a:rPr lang="en-GB"/>
              <a:t>CLICK TO EDIT TITLE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D16398C-1863-4F2C-8850-371F0BA493F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48315" y="1481135"/>
            <a:ext cx="2141762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lang="en-GB" sz="1600" cap="all" spc="15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EF3DEDC9-FB8F-43FE-A16B-ADFB1F2887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14375" y="2557467"/>
            <a:ext cx="2141762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lang="en-GB" sz="1600" cap="all" spc="15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1D522FDB-67FF-48CF-878F-7437B23C4D2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320795" y="3633789"/>
            <a:ext cx="2141762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lang="en-GB" sz="1600" cap="all" spc="15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94571EC7-3FE3-48F0-9527-6BA248D4CD2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04996" y="4710110"/>
            <a:ext cx="2141762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lang="en-GB" sz="1600" cap="all" spc="15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F00A3FAF-5AFE-494D-8D57-242473BEB23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01537" y="1594475"/>
            <a:ext cx="5539096" cy="1010841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lang="en-GB" sz="1400" spc="50"/>
            </a:lvl1pPr>
          </a:lstStyle>
          <a:p>
            <a:pPr lvl="0"/>
            <a:r>
              <a:rPr lang="en-GB"/>
              <a:t>Click to edit master text style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EC27ED9D-77C8-44CF-947E-58E70F478AD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986031" y="2673330"/>
            <a:ext cx="5539096" cy="1010841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lang="en-GB" sz="1400" spc="50"/>
            </a:lvl1pPr>
          </a:lstStyle>
          <a:p>
            <a:pPr lvl="0"/>
            <a:r>
              <a:rPr lang="en-GB"/>
              <a:t>Click to edit master text style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5890DB8-6874-4AC0-9D98-1140B33766A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576934" y="3755395"/>
            <a:ext cx="5539096" cy="1010841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lang="en-GB" sz="1400" spc="50"/>
            </a:lvl1pPr>
          </a:lstStyle>
          <a:p>
            <a:pPr lvl="0"/>
            <a:r>
              <a:rPr lang="en-GB"/>
              <a:t>Click to edit master text style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85FA12DB-4639-4BCF-8A16-53E21C1065A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75281" y="4824429"/>
            <a:ext cx="5539096" cy="1010841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lang="en-GB" sz="1400" spc="50"/>
            </a:lvl1pPr>
          </a:lstStyle>
          <a:p>
            <a:pPr lvl="0"/>
            <a:r>
              <a:rPr lang="en-GB"/>
              <a:t>Click to edit master text style</a:t>
            </a:r>
          </a:p>
        </p:txBody>
      </p:sp>
      <p:cxnSp>
        <p:nvCxnSpPr>
          <p:cNvPr id="12" name="Straight Connector 2">
            <a:extLst>
              <a:ext uri="{FF2B5EF4-FFF2-40B4-BE49-F238E27FC236}">
                <a16:creationId xmlns:a16="http://schemas.microsoft.com/office/drawing/2014/main" id="{1DF7DF26-40AF-48B1-87F5-B2A7128855CC}"/>
              </a:ext>
            </a:extLst>
          </p:cNvPr>
          <p:cNvCxnSpPr/>
          <p:nvPr/>
        </p:nvCxnSpPr>
        <p:spPr>
          <a:xfrm>
            <a:off x="4353513" y="5023933"/>
            <a:ext cx="1513213" cy="0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3" name="Straight Connector 3">
            <a:extLst>
              <a:ext uri="{FF2B5EF4-FFF2-40B4-BE49-F238E27FC236}">
                <a16:creationId xmlns:a16="http://schemas.microsoft.com/office/drawing/2014/main" id="{5F2BB7C2-6282-4326-A97A-C9FBB90D19C7}"/>
              </a:ext>
            </a:extLst>
          </p:cNvPr>
          <p:cNvCxnSpPr/>
          <p:nvPr/>
        </p:nvCxnSpPr>
        <p:spPr>
          <a:xfrm>
            <a:off x="3759921" y="3948452"/>
            <a:ext cx="1513204" cy="0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4" name="Straight Connector 7">
            <a:extLst>
              <a:ext uri="{FF2B5EF4-FFF2-40B4-BE49-F238E27FC236}">
                <a16:creationId xmlns:a16="http://schemas.microsoft.com/office/drawing/2014/main" id="{94DDB44E-A6BE-4BB9-9F7A-A455926B64D0}"/>
              </a:ext>
            </a:extLst>
          </p:cNvPr>
          <p:cNvCxnSpPr/>
          <p:nvPr/>
        </p:nvCxnSpPr>
        <p:spPr>
          <a:xfrm>
            <a:off x="3173452" y="2872688"/>
            <a:ext cx="1513213" cy="0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5" name="Straight Connector 8">
            <a:extLst>
              <a:ext uri="{FF2B5EF4-FFF2-40B4-BE49-F238E27FC236}">
                <a16:creationId xmlns:a16="http://schemas.microsoft.com/office/drawing/2014/main" id="{079A3657-BAFB-41C2-948F-FA32BB3626AE}"/>
              </a:ext>
            </a:extLst>
          </p:cNvPr>
          <p:cNvCxnSpPr/>
          <p:nvPr/>
        </p:nvCxnSpPr>
        <p:spPr>
          <a:xfrm>
            <a:off x="2586261" y="1796082"/>
            <a:ext cx="1513213" cy="0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11C676B8-2D2C-4460-A159-B93D14A287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3CEFA09F-42FB-4F4E-A34B-7A632279565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6175281" y="6356351"/>
            <a:ext cx="1808710" cy="365129"/>
          </a:xfrm>
        </p:spPr>
        <p:txBody>
          <a:bodyPr anchorCtr="0"/>
          <a:lstStyle>
            <a:lvl1pPr algn="l">
              <a:defRPr/>
            </a:lvl1pPr>
          </a:lstStyle>
          <a:p>
            <a:pPr lvl="0"/>
            <a:r>
              <a:rPr lang="en-GB"/>
              <a:t>nvl2 : 249025520</a:t>
            </a: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24F37B36-AEF1-4B2A-BEAC-11396DC6C2E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810878" y="6356351"/>
            <a:ext cx="542925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A8D7DD51-541F-47F4-9E7A-5340FD951AD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391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 Column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B51F-E4B0-449A-8E13-DFD9227A51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85154" y="892180"/>
            <a:ext cx="8421688" cy="1325559"/>
          </a:xfrm>
        </p:spPr>
        <p:txBody>
          <a:bodyPr anchorCtr="1"/>
          <a:lstStyle>
            <a:lvl1pPr algn="ctr">
              <a:defRPr lang="en-GB" sz="280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BBC29D60-73FB-4670-8BD4-281474ABA14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485900" y="2563127"/>
            <a:ext cx="4031946" cy="365129"/>
          </a:xfrm>
        </p:spPr>
        <p:txBody>
          <a:bodyPr anchorCtr="1"/>
          <a:lstStyle>
            <a:lvl1pPr marL="0" indent="0" algn="ctr">
              <a:buNone/>
              <a:defRPr lang="en-GB" sz="200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456FBC69-749D-4105-9BAC-F39C386653D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485662" y="3070344"/>
            <a:ext cx="4031031" cy="1057311"/>
          </a:xfrm>
        </p:spPr>
        <p:txBody>
          <a:bodyPr anchorCtr="1"/>
          <a:lstStyle>
            <a:lvl1pPr marL="0" indent="0" algn="ctr">
              <a:lnSpc>
                <a:spcPct val="100000"/>
              </a:lnSpc>
              <a:buNone/>
              <a:defRPr lang="en-GB"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C1B1365A-EF16-41C3-84FD-63374463F4A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73007" y="2563127"/>
            <a:ext cx="4031946" cy="365129"/>
          </a:xfrm>
        </p:spPr>
        <p:txBody>
          <a:bodyPr/>
          <a:lstStyle>
            <a:lvl1pPr marL="0" indent="0">
              <a:buNone/>
              <a:defRPr lang="en-GB" sz="200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55ACAA98-90D0-4DFA-B0F2-35E003FA5DC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73144" y="3070344"/>
            <a:ext cx="4031031" cy="1057311"/>
          </a:xfrm>
        </p:spPr>
        <p:txBody>
          <a:bodyPr anchorCtr="1"/>
          <a:lstStyle>
            <a:lvl1pPr marL="0" indent="0" algn="ctr">
              <a:lnSpc>
                <a:spcPct val="100000"/>
              </a:lnSpc>
              <a:buNone/>
              <a:defRPr lang="en-GB"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F1AC622D-6FD8-40B2-BF0C-7F69010D5F6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485900" y="4319433"/>
            <a:ext cx="4031946" cy="365129"/>
          </a:xfrm>
        </p:spPr>
        <p:txBody>
          <a:bodyPr/>
          <a:lstStyle>
            <a:lvl1pPr marL="0" indent="0">
              <a:buNone/>
              <a:defRPr lang="en-GB" sz="200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36E24A1A-81EE-4439-8F1A-95377FFC477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486412" y="4826660"/>
            <a:ext cx="4031031" cy="1057311"/>
          </a:xfrm>
        </p:spPr>
        <p:txBody>
          <a:bodyPr anchorCtr="1"/>
          <a:lstStyle>
            <a:lvl1pPr marL="0" indent="0" algn="ctr">
              <a:lnSpc>
                <a:spcPct val="100000"/>
              </a:lnSpc>
              <a:buNone/>
              <a:defRPr lang="en-GB"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94031E7F-DD34-4D83-955D-D2ADE58EEBE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72632" y="4319433"/>
            <a:ext cx="4031946" cy="365129"/>
          </a:xfrm>
        </p:spPr>
        <p:txBody>
          <a:bodyPr/>
          <a:lstStyle>
            <a:lvl1pPr marL="0" indent="0">
              <a:buNone/>
              <a:defRPr lang="en-GB" sz="200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DF708536-FD14-4877-89D4-304C12946DF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73144" y="4826660"/>
            <a:ext cx="4031031" cy="1057311"/>
          </a:xfrm>
        </p:spPr>
        <p:txBody>
          <a:bodyPr anchorCtr="1"/>
          <a:lstStyle>
            <a:lvl1pPr marL="0" indent="0" algn="ctr">
              <a:lnSpc>
                <a:spcPct val="100000"/>
              </a:lnSpc>
              <a:buNone/>
              <a:defRPr lang="en-GB"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4B913950-96CB-4A15-A6EB-DAA272C7177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257D721-6BFA-4A52-BBF7-D65DD79202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nvl2 : 249025520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F46DA2A-14EC-4C7D-9FB4-8A90578797A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3AF1094-819C-4EF5-8208-2B8ACB227CD8}" type="slidenum">
              <a:t>‹#›</a:t>
            </a:fld>
            <a:endParaRPr lang="en-GB"/>
          </a:p>
        </p:txBody>
      </p:sp>
      <p:cxnSp>
        <p:nvCxnSpPr>
          <p:cNvPr id="14" name="Straight Connector 1">
            <a:extLst>
              <a:ext uri="{FF2B5EF4-FFF2-40B4-BE49-F238E27FC236}">
                <a16:creationId xmlns:a16="http://schemas.microsoft.com/office/drawing/2014/main" id="{EE68C824-8B40-461D-AC8D-09208DABC6E2}"/>
              </a:ext>
            </a:extLst>
          </p:cNvPr>
          <p:cNvCxnSpPr/>
          <p:nvPr/>
        </p:nvCxnSpPr>
        <p:spPr>
          <a:xfrm>
            <a:off x="8688391" y="0"/>
            <a:ext cx="3503605" cy="2352961"/>
          </a:xfrm>
          <a:prstGeom prst="straightConnector1">
            <a:avLst/>
          </a:prstGeom>
          <a:noFill/>
          <a:ln w="6345" cap="flat">
            <a:solidFill>
              <a:srgbClr val="E9E6DF"/>
            </a:solidFill>
            <a:prstDash val="solid"/>
            <a:miter/>
          </a:ln>
        </p:spPr>
      </p:cxnSp>
      <p:cxnSp>
        <p:nvCxnSpPr>
          <p:cNvPr id="15" name="Straight Connector 5">
            <a:extLst>
              <a:ext uri="{FF2B5EF4-FFF2-40B4-BE49-F238E27FC236}">
                <a16:creationId xmlns:a16="http://schemas.microsoft.com/office/drawing/2014/main" id="{7CEC6C89-6CC8-4947-8C2F-52B6605BAD00}"/>
              </a:ext>
            </a:extLst>
          </p:cNvPr>
          <p:cNvCxnSpPr/>
          <p:nvPr/>
        </p:nvCxnSpPr>
        <p:spPr>
          <a:xfrm>
            <a:off x="9720940" y="0"/>
            <a:ext cx="2471056" cy="2699034"/>
          </a:xfrm>
          <a:prstGeom prst="straightConnector1">
            <a:avLst/>
          </a:prstGeom>
          <a:noFill/>
          <a:ln w="6345" cap="flat">
            <a:solidFill>
              <a:srgbClr val="E9E6DF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607222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384E-A1A4-41E1-ABD4-CA86E56FD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8760" y="4156405"/>
            <a:ext cx="3139436" cy="1325559"/>
          </a:xfrm>
        </p:spPr>
        <p:txBody>
          <a:bodyPr anchor="b"/>
          <a:lstStyle>
            <a:lvl1pPr>
              <a:defRPr lang="en-GB" sz="2800" spc="150"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566A79B5-BDD7-4F69-8BAE-9B6B6D1AAF4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22257" y="1530632"/>
            <a:ext cx="5433200" cy="365129"/>
          </a:xfrm>
        </p:spPr>
        <p:txBody>
          <a:bodyPr/>
          <a:lstStyle>
            <a:lvl1pPr marL="0" indent="0">
              <a:buNone/>
              <a:defRPr lang="en-GB" sz="2000" spc="150"/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D79869C4-AE1A-4571-810B-845A5783D50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21828" y="1860063"/>
            <a:ext cx="5431974" cy="5579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lang="en-GB" sz="1400"/>
            </a:lvl1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ACE85AA5-D547-42F0-B2A8-3B992DA22F5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22257" y="2630427"/>
            <a:ext cx="5433200" cy="365129"/>
          </a:xfrm>
        </p:spPr>
        <p:txBody>
          <a:bodyPr/>
          <a:lstStyle>
            <a:lvl1pPr marL="0" indent="0">
              <a:buNone/>
              <a:defRPr lang="en-GB" sz="2000" spc="150"/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279E0F5-6C2F-40FE-AC72-C82A8779C37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21828" y="2959857"/>
            <a:ext cx="5431974" cy="5579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lang="en-GB" sz="1400"/>
            </a:lvl1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09B0041D-8E97-4A2E-9EB6-56B77A2F1F3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22257" y="3730230"/>
            <a:ext cx="5433200" cy="365129"/>
          </a:xfrm>
        </p:spPr>
        <p:txBody>
          <a:bodyPr/>
          <a:lstStyle>
            <a:lvl1pPr marL="0" indent="0">
              <a:buNone/>
              <a:defRPr lang="en-GB" sz="2000" spc="150"/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B6043825-8D90-4A05-83E1-98AA615A172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21828" y="4059652"/>
            <a:ext cx="5431974" cy="5579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lang="en-GB" sz="1400"/>
            </a:lvl1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8F37D743-7762-4487-9F03-710BCEC0080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20109" y="4830025"/>
            <a:ext cx="5433200" cy="365129"/>
          </a:xfrm>
        </p:spPr>
        <p:txBody>
          <a:bodyPr/>
          <a:lstStyle>
            <a:lvl1pPr marL="0" indent="0">
              <a:buNone/>
              <a:defRPr lang="en-GB" sz="2000" spc="150"/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3B30AC1-B354-4B0A-A643-A69EDE1792F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19679" y="5159447"/>
            <a:ext cx="5431974" cy="5579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lang="en-GB" sz="1400"/>
            </a:lvl1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F3497726-7AED-497A-9915-656569383B4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5919679" y="6356351"/>
            <a:ext cx="947519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AE5DB426-6966-4B03-BFBA-B86766231E4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7161955" y="6356351"/>
            <a:ext cx="3243943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nvl2 : 249025520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49FBAE-5FAA-4D99-8F61-D71B902CEEE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700656" y="6356351"/>
            <a:ext cx="653146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71FD1D71-0704-4B13-8EE2-81EE7D807503}" type="slidenum">
              <a:t>‹#›</a:t>
            </a:fld>
            <a:endParaRPr lang="en-GB"/>
          </a:p>
        </p:txBody>
      </p:sp>
      <p:pic>
        <p:nvPicPr>
          <p:cNvPr id="14" name="Graphic 1">
            <a:extLst>
              <a:ext uri="{FF2B5EF4-FFF2-40B4-BE49-F238E27FC236}">
                <a16:creationId xmlns:a16="http://schemas.microsoft.com/office/drawing/2014/main" id="{C1B15516-5BBD-44C9-A9BF-61DD5829C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>
            <a:fillRect/>
          </a:stretch>
        </p:blipFill>
        <p:spPr>
          <a:xfrm>
            <a:off x="-4700" y="0"/>
            <a:ext cx="4896730" cy="438594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00601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rgbClr val="E9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DC1F4-F04E-40CD-94BE-476B1EEB1B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62071" y="1671642"/>
            <a:ext cx="5111752" cy="1204914"/>
          </a:xfrm>
        </p:spPr>
        <p:txBody>
          <a:bodyPr anchor="b"/>
          <a:lstStyle>
            <a:lvl1pPr>
              <a:defRPr lang="en-GB" sz="2800" spc="150"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0636A-15A8-4246-A84D-5FD886B6D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62071" y="3660772"/>
            <a:ext cx="5111752" cy="1525584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spc="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13">
            <a:extLst>
              <a:ext uri="{FF2B5EF4-FFF2-40B4-BE49-F238E27FC236}">
                <a16:creationId xmlns:a16="http://schemas.microsoft.com/office/drawing/2014/main" id="{B4D93539-9DDD-4EC7-BB6C-DBB85673BAD6}"/>
              </a:ext>
            </a:extLst>
          </p:cNvPr>
          <p:cNvCxnSpPr/>
          <p:nvPr/>
        </p:nvCxnSpPr>
        <p:spPr>
          <a:xfrm>
            <a:off x="9096378" y="1497009"/>
            <a:ext cx="3095618" cy="0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5" name="Straight Connector 22">
            <a:extLst>
              <a:ext uri="{FF2B5EF4-FFF2-40B4-BE49-F238E27FC236}">
                <a16:creationId xmlns:a16="http://schemas.microsoft.com/office/drawing/2014/main" id="{8B64B05B-E957-4693-9ABF-8A7429B1BFE0}"/>
              </a:ext>
            </a:extLst>
          </p:cNvPr>
          <p:cNvCxnSpPr/>
          <p:nvPr/>
        </p:nvCxnSpPr>
        <p:spPr>
          <a:xfrm flipH="1">
            <a:off x="6953253" y="-25402"/>
            <a:ext cx="3790947" cy="6902448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Date Placeholder 6">
            <a:extLst>
              <a:ext uri="{FF2B5EF4-FFF2-40B4-BE49-F238E27FC236}">
                <a16:creationId xmlns:a16="http://schemas.microsoft.com/office/drawing/2014/main" id="{DE70A883-BA0D-4270-9DDB-9B771BE8181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8F93A5F6-0A7C-43EF-A629-F9BD5A4EE66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224460" y="6356351"/>
            <a:ext cx="1743075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nvl2 : 249025520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3789183D-60AF-46A0-8524-96D3E22424F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55214EB-2B69-4337-8E34-9695520DABE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49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57AB7-3F35-4B57-AF93-267DF13DB8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1346" y="2571237"/>
            <a:ext cx="4179566" cy="1715533"/>
          </a:xfrm>
        </p:spPr>
        <p:txBody>
          <a:bodyPr>
            <a:noAutofit/>
          </a:bodyPr>
          <a:lstStyle>
            <a:lvl1pPr>
              <a:defRPr lang="en-GB" sz="360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pic>
        <p:nvPicPr>
          <p:cNvPr id="3" name="Graphic 4">
            <a:extLst>
              <a:ext uri="{FF2B5EF4-FFF2-40B4-BE49-F238E27FC236}">
                <a16:creationId xmlns:a16="http://schemas.microsoft.com/office/drawing/2014/main" id="{847622A5-B442-4EBE-8BCB-51DDF4AB0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1" cy="5200649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24551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6">
            <a:extLst>
              <a:ext uri="{FF2B5EF4-FFF2-40B4-BE49-F238E27FC236}">
                <a16:creationId xmlns:a16="http://schemas.microsoft.com/office/drawing/2014/main" id="{0BFC47AB-20BB-450A-B12A-6BDABC8B7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3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C6F0197-FA0F-4B79-B14D-470A5AE78D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20173" y="1152774"/>
            <a:ext cx="5431974" cy="846304"/>
          </a:xfrm>
        </p:spPr>
        <p:txBody>
          <a:bodyPr anchor="t"/>
          <a:lstStyle>
            <a:lvl1pPr>
              <a:defRPr lang="en-GB" sz="2800" spc="150"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cxnSp>
        <p:nvCxnSpPr>
          <p:cNvPr id="4" name="Straight Connector 8">
            <a:extLst>
              <a:ext uri="{FF2B5EF4-FFF2-40B4-BE49-F238E27FC236}">
                <a16:creationId xmlns:a16="http://schemas.microsoft.com/office/drawing/2014/main" id="{6C3CDDED-9D64-4682-9CEA-C750AD44E62D}"/>
              </a:ext>
            </a:extLst>
          </p:cNvPr>
          <p:cNvCxnSpPr/>
          <p:nvPr/>
        </p:nvCxnSpPr>
        <p:spPr>
          <a:xfrm flipV="1">
            <a:off x="2209803" y="0"/>
            <a:ext cx="2438393" cy="6858000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A6558C36-2BFB-4B60-8354-1E59CCD875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22257" y="2469510"/>
            <a:ext cx="5433200" cy="365129"/>
          </a:xfrm>
        </p:spPr>
        <p:txBody>
          <a:bodyPr/>
          <a:lstStyle>
            <a:lvl1pPr marL="0" indent="0">
              <a:buNone/>
              <a:defRPr lang="en-GB" sz="2000" cap="all" spc="150"/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9F243104-7610-42FE-ABB4-A99FF2E7CEF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21828" y="2798941"/>
            <a:ext cx="5431974" cy="5579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lang="en-GB" sz="1400"/>
            </a:lvl1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C9FE2D0A-A76A-4004-882A-CCCA6E9DC6C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22257" y="3569314"/>
            <a:ext cx="5433200" cy="365129"/>
          </a:xfrm>
        </p:spPr>
        <p:txBody>
          <a:bodyPr/>
          <a:lstStyle>
            <a:lvl1pPr marL="0" indent="0">
              <a:buNone/>
              <a:defRPr lang="en-GB" sz="2000" cap="all" spc="150"/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98EB4C01-8206-4C87-B5B1-E77AB9AC1F9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21828" y="3898736"/>
            <a:ext cx="5431974" cy="5579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lang="en-GB" sz="1400"/>
            </a:lvl1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A90DC19-94FC-4850-9891-E6BD03B2FAD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22257" y="4669109"/>
            <a:ext cx="5433200" cy="365129"/>
          </a:xfrm>
        </p:spPr>
        <p:txBody>
          <a:bodyPr/>
          <a:lstStyle>
            <a:lvl1pPr marL="0" indent="0">
              <a:buNone/>
              <a:defRPr lang="en-GB" sz="2000" cap="all" spc="150"/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11BC265-9093-4AC7-B5A0-72E7552BDDE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21828" y="4998531"/>
            <a:ext cx="5431974" cy="5579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lang="en-GB" sz="1400"/>
            </a:lvl1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5C7DA7C2-BFFE-4A20-A93B-0616015AFA5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5919679" y="6356351"/>
            <a:ext cx="947519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0821021A-24A4-477B-B756-38851B1D359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7161955" y="6356351"/>
            <a:ext cx="3243943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nvl2 : 249025520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9FC6A05-65FC-456C-8212-0B755D4632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700656" y="6356351"/>
            <a:ext cx="653146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D2C17C65-508F-45CC-88EA-83D31890DE6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687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21F5-BDB6-4B53-B3E6-A809D01801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85154" y="892180"/>
            <a:ext cx="8421688" cy="1325559"/>
          </a:xfrm>
        </p:spPr>
        <p:txBody>
          <a:bodyPr anchorCtr="1"/>
          <a:lstStyle>
            <a:lvl1pPr algn="ctr">
              <a:defRPr lang="en-GB" sz="2800" spc="150"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D06DD-D0D6-481F-A86E-8892C9A6752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43108" y="2776932"/>
            <a:ext cx="2882472" cy="823910"/>
          </a:xfrm>
        </p:spPr>
        <p:txBody>
          <a:bodyPr anchor="b">
            <a:noAutofit/>
          </a:bodyPr>
          <a:lstStyle>
            <a:lvl1pPr marL="0" indent="0">
              <a:buNone/>
              <a:defRPr lang="en-GB" sz="2000" cap="all" spc="150"/>
            </a:lvl1pPr>
          </a:lstStyle>
          <a:p>
            <a:pPr lvl="0"/>
            <a:r>
              <a:rPr lang="en-GB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9FA3B-B8C2-4804-967B-D0F99C69020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243108" y="3834609"/>
            <a:ext cx="2882472" cy="199786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spc="50"/>
            </a:lvl1pPr>
            <a:lvl2pPr marL="457200" indent="0">
              <a:lnSpc>
                <a:spcPct val="100000"/>
              </a:lnSpc>
              <a:buNone/>
              <a:defRPr sz="1400" spc="50"/>
            </a:lvl2pPr>
            <a:lvl3pPr marL="914400" indent="0">
              <a:lnSpc>
                <a:spcPct val="100000"/>
              </a:lnSpc>
              <a:buNone/>
              <a:defRPr sz="1400" spc="50"/>
            </a:lvl3pPr>
            <a:lvl4pPr marL="1371600" indent="0">
              <a:lnSpc>
                <a:spcPct val="100000"/>
              </a:lnSpc>
              <a:buNone/>
              <a:defRPr sz="1400" spc="50"/>
            </a:lvl4pPr>
            <a:lvl5pPr marL="1828800" indent="0">
              <a:lnSpc>
                <a:spcPct val="100000"/>
              </a:lnSpc>
              <a:buNone/>
              <a:defRPr sz="1400" spc="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C856E5-803D-4C97-BB8A-DB3B1BCAEFF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47666" y="2776932"/>
            <a:ext cx="2896672" cy="823910"/>
          </a:xfrm>
        </p:spPr>
        <p:txBody>
          <a:bodyPr anchor="b">
            <a:noAutofit/>
          </a:bodyPr>
          <a:lstStyle>
            <a:lvl1pPr marL="0" indent="0">
              <a:buNone/>
              <a:defRPr lang="en-GB" sz="2000" cap="all" spc="150"/>
            </a:lvl1pPr>
          </a:lstStyle>
          <a:p>
            <a:pPr lvl="0"/>
            <a:r>
              <a:rPr lang="en-GB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241EBC-ACA9-4110-93D4-C26AAF6EAA6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47666" y="3834609"/>
            <a:ext cx="2896672" cy="199786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spc="50"/>
            </a:lvl1pPr>
            <a:lvl2pPr marL="457200" indent="0">
              <a:lnSpc>
                <a:spcPct val="100000"/>
              </a:lnSpc>
              <a:buNone/>
              <a:defRPr sz="1400" spc="50"/>
            </a:lvl2pPr>
            <a:lvl3pPr marL="914400" indent="0">
              <a:lnSpc>
                <a:spcPct val="100000"/>
              </a:lnSpc>
              <a:buNone/>
              <a:defRPr sz="1400" spc="50"/>
            </a:lvl3pPr>
            <a:lvl4pPr marL="1371600" indent="0">
              <a:lnSpc>
                <a:spcPct val="100000"/>
              </a:lnSpc>
              <a:buNone/>
              <a:defRPr sz="1400" spc="50"/>
            </a:lvl4pPr>
            <a:lvl5pPr marL="1828800" indent="0">
              <a:lnSpc>
                <a:spcPct val="100000"/>
              </a:lnSpc>
              <a:buNone/>
              <a:defRPr sz="1400" spc="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7" name="Straight Connector 15">
            <a:extLst>
              <a:ext uri="{FF2B5EF4-FFF2-40B4-BE49-F238E27FC236}">
                <a16:creationId xmlns:a16="http://schemas.microsoft.com/office/drawing/2014/main" id="{7AD9C4BF-801A-4ECC-9114-0F15E78B1DD8}"/>
              </a:ext>
            </a:extLst>
          </p:cNvPr>
          <p:cNvCxnSpPr/>
          <p:nvPr/>
        </p:nvCxnSpPr>
        <p:spPr>
          <a:xfrm flipH="1">
            <a:off x="0" y="0"/>
            <a:ext cx="1238253" cy="3105146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B415D498-D93E-4B33-8E4F-481B45CC6776}"/>
              </a:ext>
            </a:extLst>
          </p:cNvPr>
          <p:cNvCxnSpPr/>
          <p:nvPr/>
        </p:nvCxnSpPr>
        <p:spPr>
          <a:xfrm flipH="1">
            <a:off x="0" y="0"/>
            <a:ext cx="2238378" cy="2476496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F7C9EF-1443-4609-9DEC-6E7407F69B1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066425" y="2776932"/>
            <a:ext cx="2882472" cy="823910"/>
          </a:xfrm>
        </p:spPr>
        <p:txBody>
          <a:bodyPr anchor="b">
            <a:noAutofit/>
          </a:bodyPr>
          <a:lstStyle>
            <a:lvl1pPr marL="0" indent="0">
              <a:buNone/>
              <a:defRPr lang="en-GB" sz="2000" cap="all" spc="150"/>
            </a:lvl1pPr>
          </a:lstStyle>
          <a:p>
            <a:pPr lvl="0"/>
            <a:r>
              <a:rPr lang="en-GB"/>
              <a:t>CLICK TO EDIT MASTER TEXT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6138A43-261C-45B0-A0F9-2F47455E6C6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066425" y="3834609"/>
            <a:ext cx="2882472" cy="199786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spc="50"/>
            </a:lvl1pPr>
            <a:lvl2pPr marL="457200" indent="0">
              <a:lnSpc>
                <a:spcPct val="100000"/>
              </a:lnSpc>
              <a:buNone/>
              <a:defRPr sz="1400" spc="50"/>
            </a:lvl2pPr>
            <a:lvl3pPr marL="914400" indent="0">
              <a:lnSpc>
                <a:spcPct val="100000"/>
              </a:lnSpc>
              <a:buNone/>
              <a:defRPr sz="1400" spc="50"/>
            </a:lvl3pPr>
            <a:lvl4pPr marL="1371600" indent="0">
              <a:lnSpc>
                <a:spcPct val="100000"/>
              </a:lnSpc>
              <a:buNone/>
              <a:defRPr sz="1400" spc="50"/>
            </a:lvl4pPr>
            <a:lvl5pPr marL="1828800" indent="0">
              <a:lnSpc>
                <a:spcPct val="100000"/>
              </a:lnSpc>
              <a:buNone/>
              <a:defRPr sz="1400" spc="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756B7D2E-DB51-43FA-ACB1-1809C35AC60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B7D2C649-10C1-4235-9735-4B4E2DACB3D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nvl2 : 249025520</a:t>
            </a:r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F99CAD7C-DDCC-4103-AF13-971C61EE9C4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7406CE4-304D-40D3-A62D-36C966CB004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917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CDB1-F8F2-402D-A7C8-A41F2458E7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85154" y="892180"/>
            <a:ext cx="8421688" cy="1325559"/>
          </a:xfrm>
        </p:spPr>
        <p:txBody>
          <a:bodyPr anchorCtr="1"/>
          <a:lstStyle>
            <a:lvl1pPr algn="ctr">
              <a:defRPr lang="en-GB" sz="280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pic>
        <p:nvPicPr>
          <p:cNvPr id="3" name="Graphic 10">
            <a:extLst>
              <a:ext uri="{FF2B5EF4-FFF2-40B4-BE49-F238E27FC236}">
                <a16:creationId xmlns:a16="http://schemas.microsoft.com/office/drawing/2014/main" id="{066C74CB-1472-4E9C-AF8D-EA6F10A88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3" y="2358009"/>
            <a:ext cx="2438403" cy="20192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Graphic 12">
            <a:extLst>
              <a:ext uri="{FF2B5EF4-FFF2-40B4-BE49-F238E27FC236}">
                <a16:creationId xmlns:a16="http://schemas.microsoft.com/office/drawing/2014/main" id="{68E27A07-B410-46B2-A040-E5E5783E6F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6"/>
            <a:ext cx="2190746" cy="19431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Graphic 14">
            <a:extLst>
              <a:ext uri="{FF2B5EF4-FFF2-40B4-BE49-F238E27FC236}">
                <a16:creationId xmlns:a16="http://schemas.microsoft.com/office/drawing/2014/main" id="{222AFD18-5F0B-44ED-81A3-2591BAAAA2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9" y="2421056"/>
            <a:ext cx="2324103" cy="20574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7698C12-5DA6-45BD-A51A-8988128646F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063855" y="3064611"/>
            <a:ext cx="1240968" cy="823910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lang="en-GB" sz="4000" cap="all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C735B62-5FB5-4B8F-8A39-891D010E2AC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475509" y="3064611"/>
            <a:ext cx="1240968" cy="823910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lang="en-GB" sz="4000" cap="all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6207C01-4623-46E0-97BB-9C57BB3053A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887172" y="3064611"/>
            <a:ext cx="1240968" cy="823910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lang="en-GB" sz="4000" cap="all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4E2E1D3-01B1-4914-B250-DF96FBF029A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129695" y="4824191"/>
            <a:ext cx="3124093" cy="462924"/>
          </a:xfrm>
        </p:spPr>
        <p:txBody>
          <a:bodyPr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EDBE70E-54BD-4483-BDEE-2A2F843E7A5F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129695" y="5280760"/>
            <a:ext cx="3124093" cy="462924"/>
          </a:xfrm>
        </p:spPr>
        <p:txBody>
          <a:bodyPr anchorCtr="1"/>
          <a:lstStyle>
            <a:lvl1pPr marL="0" indent="0" algn="ctr">
              <a:lnSpc>
                <a:spcPct val="100000"/>
              </a:lnSpc>
              <a:buNone/>
              <a:defRPr sz="1400" spc="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D1D7FC67-8182-4FB5-99BE-69D5B9DAF51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26261" y="4824191"/>
            <a:ext cx="3139482" cy="462924"/>
          </a:xfrm>
        </p:spPr>
        <p:txBody>
          <a:bodyPr anchorCtr="1"/>
          <a:lstStyle>
            <a:lvl1pPr marL="0" indent="0" algn="ctr">
              <a:lnSpc>
                <a:spcPct val="100000"/>
              </a:lnSpc>
              <a:buNone/>
              <a:defRPr sz="2000" cap="all" spc="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C4BFE3EF-CEA8-4612-8625-C69A8DDABB4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26261" y="5280760"/>
            <a:ext cx="3139482" cy="462924"/>
          </a:xfrm>
        </p:spPr>
        <p:txBody>
          <a:bodyPr anchorCtr="1"/>
          <a:lstStyle>
            <a:lvl1pPr marL="0" indent="0" algn="ctr">
              <a:lnSpc>
                <a:spcPct val="100000"/>
              </a:lnSpc>
              <a:buNone/>
              <a:defRPr sz="1400" spc="50">
                <a:solidFill>
                  <a:srgbClr val="FFFFFF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spc="50">
                <a:solidFill>
                  <a:srgbClr val="FFFFFF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9BD02710-BDE6-4186-8FB2-9BD224FA9A4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938208" y="4824191"/>
            <a:ext cx="3124093" cy="462924"/>
          </a:xfrm>
        </p:spPr>
        <p:txBody>
          <a:bodyPr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6D5F891C-5761-44BA-BA05-3A4B8827D0D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938208" y="5280760"/>
            <a:ext cx="3124093" cy="462924"/>
          </a:xfrm>
        </p:spPr>
        <p:txBody>
          <a:bodyPr anchorCtr="1"/>
          <a:lstStyle>
            <a:lvl1pPr marL="0" indent="0" algn="ctr">
              <a:lnSpc>
                <a:spcPct val="100000"/>
              </a:lnSpc>
              <a:buNone/>
              <a:defRPr sz="1400" spc="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Date Placeholder 6">
            <a:extLst>
              <a:ext uri="{FF2B5EF4-FFF2-40B4-BE49-F238E27FC236}">
                <a16:creationId xmlns:a16="http://schemas.microsoft.com/office/drawing/2014/main" id="{E0B781C5-E852-4EF3-8F3A-AC4E3213D63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16" name="Footer Placeholder 7">
            <a:extLst>
              <a:ext uri="{FF2B5EF4-FFF2-40B4-BE49-F238E27FC236}">
                <a16:creationId xmlns:a16="http://schemas.microsoft.com/office/drawing/2014/main" id="{F58E5EA4-F94D-45C3-8860-C9D84A8621C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nvl2 : 249025520</a:t>
            </a:r>
          </a:p>
        </p:txBody>
      </p:sp>
      <p:sp>
        <p:nvSpPr>
          <p:cNvPr id="17" name="Slide Number Placeholder 8">
            <a:extLst>
              <a:ext uri="{FF2B5EF4-FFF2-40B4-BE49-F238E27FC236}">
                <a16:creationId xmlns:a16="http://schemas.microsoft.com/office/drawing/2014/main" id="{4CF81EAA-524A-4545-BCBF-A503B7BE444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1BF0578-2013-464C-B473-90B3889888E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792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rgbClr val="E9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B4709-2C2E-477A-B17B-EB9B0C3139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33696" y="892180"/>
            <a:ext cx="8421688" cy="1325559"/>
          </a:xfrm>
        </p:spPr>
        <p:txBody>
          <a:bodyPr/>
          <a:lstStyle>
            <a:lvl1pPr>
              <a:defRPr lang="en-GB" sz="2800" spc="150"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0B021-D6FA-43FF-9082-A8D7170FA0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3696" y="2776932"/>
            <a:ext cx="3924303" cy="823910"/>
          </a:xfrm>
        </p:spPr>
        <p:txBody>
          <a:bodyPr anchor="b">
            <a:noAutofit/>
          </a:bodyPr>
          <a:lstStyle>
            <a:lvl1pPr marL="0" indent="0">
              <a:buNone/>
              <a:defRPr lang="en-GB" sz="2000" spc="150"/>
            </a:lvl1pPr>
          </a:lstStyle>
          <a:p>
            <a:pPr lvl="0"/>
            <a:r>
              <a:rPr lang="en-GB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B075D-C3F7-4298-BE9F-7FAFD336357C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2933696" y="3834609"/>
            <a:ext cx="3924303" cy="199786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spc="50"/>
            </a:lvl1pPr>
            <a:lvl2pPr marL="457200" indent="0">
              <a:lnSpc>
                <a:spcPct val="100000"/>
              </a:lnSpc>
              <a:buNone/>
              <a:defRPr sz="1400" spc="50"/>
            </a:lvl2pPr>
            <a:lvl3pPr marL="914400" indent="0">
              <a:lnSpc>
                <a:spcPct val="100000"/>
              </a:lnSpc>
              <a:buNone/>
              <a:defRPr sz="1400" spc="50"/>
            </a:lvl3pPr>
            <a:lvl4pPr marL="1371600" indent="0">
              <a:lnSpc>
                <a:spcPct val="100000"/>
              </a:lnSpc>
              <a:buNone/>
              <a:defRPr sz="1400" spc="50"/>
            </a:lvl4pPr>
            <a:lvl5pPr marL="1828800" indent="0">
              <a:lnSpc>
                <a:spcPct val="100000"/>
              </a:lnSpc>
              <a:buNone/>
              <a:defRPr sz="1400" spc="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B38FD5-7727-4CE1-AAD7-FF5845084EB6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7410169" y="2776932"/>
            <a:ext cx="3943624" cy="823910"/>
          </a:xfrm>
        </p:spPr>
        <p:txBody>
          <a:bodyPr anchor="b">
            <a:noAutofit/>
          </a:bodyPr>
          <a:lstStyle>
            <a:lvl1pPr marL="0" indent="0">
              <a:buNone/>
              <a:defRPr lang="en-GB" sz="2000" spc="150"/>
            </a:lvl1pPr>
          </a:lstStyle>
          <a:p>
            <a:pPr lvl="0"/>
            <a:r>
              <a:rPr lang="en-GB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DE8CF8-15F2-41D2-A1D0-C4B2F0C2DE93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7410169" y="3834609"/>
            <a:ext cx="3943624" cy="199786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spc="50"/>
            </a:lvl1pPr>
            <a:lvl2pPr marL="457200" indent="0">
              <a:lnSpc>
                <a:spcPct val="100000"/>
              </a:lnSpc>
              <a:buNone/>
              <a:defRPr sz="1400" spc="50"/>
            </a:lvl2pPr>
            <a:lvl3pPr marL="914400" indent="0">
              <a:lnSpc>
                <a:spcPct val="100000"/>
              </a:lnSpc>
              <a:buNone/>
              <a:defRPr sz="1400" spc="50"/>
            </a:lvl3pPr>
            <a:lvl4pPr marL="1371600" indent="0">
              <a:lnSpc>
                <a:spcPct val="100000"/>
              </a:lnSpc>
              <a:buNone/>
              <a:defRPr sz="1400" spc="50"/>
            </a:lvl4pPr>
            <a:lvl5pPr marL="1828800" indent="0">
              <a:lnSpc>
                <a:spcPct val="100000"/>
              </a:lnSpc>
              <a:buNone/>
              <a:defRPr sz="1400" spc="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0CAC97-A93B-4DDC-A929-5221054C7D4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CE79C7-955C-41D2-A77D-2B335153F52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nvl2 : 249025520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34460-125C-4A3F-B72F-91BB491CFF2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F40E97-3919-402A-85AB-9CF0213A5960}" type="slidenum">
              <a:t>‹#›</a:t>
            </a:fld>
            <a:endParaRPr lang="en-GB"/>
          </a:p>
        </p:txBody>
      </p:sp>
      <p:pic>
        <p:nvPicPr>
          <p:cNvPr id="10" name="Graphic 10">
            <a:extLst>
              <a:ext uri="{FF2B5EF4-FFF2-40B4-BE49-F238E27FC236}">
                <a16:creationId xmlns:a16="http://schemas.microsoft.com/office/drawing/2014/main" id="{4E00727D-1307-4F93-A5F8-0E32D8076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>
            <a:fillRect/>
          </a:stretch>
        </p:blipFill>
        <p:spPr>
          <a:xfrm>
            <a:off x="25786" y="0"/>
            <a:ext cx="4368033" cy="391239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312194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CCC52-D6F8-463E-AA02-09FC395E928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GB" sz="2800" spc="150"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cxnSp>
        <p:nvCxnSpPr>
          <p:cNvPr id="3" name="Straight Connector 23">
            <a:extLst>
              <a:ext uri="{FF2B5EF4-FFF2-40B4-BE49-F238E27FC236}">
                <a16:creationId xmlns:a16="http://schemas.microsoft.com/office/drawing/2014/main" id="{5A2B9432-C3AC-4E76-83BC-2ECF33D9D5EB}"/>
              </a:ext>
            </a:extLst>
          </p:cNvPr>
          <p:cNvCxnSpPr>
            <a:endCxn id="9" idx="1"/>
          </p:cNvCxnSpPr>
          <p:nvPr/>
        </p:nvCxnSpPr>
        <p:spPr>
          <a:xfrm flipV="1">
            <a:off x="2315754" y="3774840"/>
            <a:ext cx="7624697" cy="4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4" name="Straight Connector 24">
            <a:extLst>
              <a:ext uri="{FF2B5EF4-FFF2-40B4-BE49-F238E27FC236}">
                <a16:creationId xmlns:a16="http://schemas.microsoft.com/office/drawing/2014/main" id="{B3D80187-494F-4594-8F69-66E2017CA1FC}"/>
              </a:ext>
            </a:extLst>
          </p:cNvPr>
          <p:cNvCxnSpPr/>
          <p:nvPr/>
        </p:nvCxnSpPr>
        <p:spPr>
          <a:xfrm flipV="1">
            <a:off x="6096003" y="2091973"/>
            <a:ext cx="4672" cy="3376815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BE18B20-E154-4F8A-BDE3-134687C573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242520" y="1599943"/>
            <a:ext cx="1706965" cy="492029"/>
          </a:xfrm>
        </p:spPr>
        <p:txBody>
          <a:bodyPr anchor="ctr" anchorCtr="1"/>
          <a:lstStyle>
            <a:lvl1pPr marL="0" indent="0" algn="ctr">
              <a:lnSpc>
                <a:spcPct val="100000"/>
              </a:lnSpc>
              <a:buNone/>
              <a:defRPr lang="en-GB" sz="1400" cap="all"/>
            </a:lvl1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6372F607-0BD7-44F9-9AE3-6A3A5833983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738734" y="2378454"/>
            <a:ext cx="1183178" cy="492029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sz="1050"/>
            </a:lvl1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590F0E1A-905C-44FC-9ABC-189E5F4F575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522265" y="2169258"/>
            <a:ext cx="1706965" cy="1048579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sz="1400" b="1" cap="all"/>
            </a:lvl1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63A1E031-5D48-4129-8565-E5F2F703B6F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21898" y="3528825"/>
            <a:ext cx="1393865" cy="492029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sz="1400" cap="all"/>
            </a:lvl1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C43D961-DAC8-4116-8465-FFFBBCFA594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940451" y="3528825"/>
            <a:ext cx="1380679" cy="492029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sz="1400" cap="all"/>
            </a:lvl1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B84F00A7-F51C-4356-978E-81111C88EE4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637751" y="4634334"/>
            <a:ext cx="1183178" cy="492029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sz="1050"/>
            </a:lvl1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697696D2-7C7F-4998-B727-06865F945B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175223" y="4459857"/>
            <a:ext cx="1183178" cy="492029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sz="1050"/>
            </a:lvl1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4CA7DF96-0DA1-4C73-BF41-E4F260F18CD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552718" y="4321783"/>
            <a:ext cx="1183178" cy="492029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sz="1050"/>
            </a:lvl1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C9169EAD-9E42-49CB-9C3D-17D35D5BE15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242520" y="5468788"/>
            <a:ext cx="1706965" cy="492029"/>
          </a:xfrm>
        </p:spPr>
        <p:txBody>
          <a:bodyPr anchor="ctr" anchorCtr="1"/>
          <a:lstStyle>
            <a:lvl1pPr marL="0" indent="0" algn="ctr">
              <a:lnSpc>
                <a:spcPct val="100000"/>
              </a:lnSpc>
              <a:buNone/>
              <a:defRPr lang="en-GB" sz="1400" cap="all"/>
            </a:lvl1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28889159-16F6-43E9-85A1-8FEFEAD8232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01852" y="5195675"/>
            <a:ext cx="1183178" cy="492029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sz="1050"/>
            </a:lvl1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81FD0843-9B74-4520-A2F7-37B6EDD152B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1525C786-75BE-4E49-A828-D3A0EE755A4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nvl2 : 249025520</a:t>
            </a:r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963F11AD-E243-42D0-B7E1-8AE6E972809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94735EE-74B8-42C3-80C3-C7900F95E3F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955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3">
            <a:extLst>
              <a:ext uri="{FF2B5EF4-FFF2-40B4-BE49-F238E27FC236}">
                <a16:creationId xmlns:a16="http://schemas.microsoft.com/office/drawing/2014/main" id="{D3BC34EB-3A0C-42C2-912E-BB62AC4A8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>
            <a:fillRect/>
          </a:stretch>
        </p:blipFill>
        <p:spPr>
          <a:xfrm flipH="1">
            <a:off x="0" y="0"/>
            <a:ext cx="5441887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2FD0F0F-D844-410D-88C0-ABA182E6DE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20173" y="1152774"/>
            <a:ext cx="5431974" cy="846304"/>
          </a:xfrm>
        </p:spPr>
        <p:txBody>
          <a:bodyPr anchor="t"/>
          <a:lstStyle>
            <a:lvl1pPr>
              <a:defRPr lang="en-GB" sz="2800" spc="150"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67419DAA-7DA1-46DC-9513-39450B8B07B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22257" y="2469510"/>
            <a:ext cx="5433200" cy="365129"/>
          </a:xfrm>
        </p:spPr>
        <p:txBody>
          <a:bodyPr/>
          <a:lstStyle>
            <a:lvl1pPr marL="0" indent="0">
              <a:buNone/>
              <a:defRPr lang="en-GB" sz="2000" cap="all" spc="150"/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C88833D6-7BBD-4FA2-B6E0-D574B41C9B2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21828" y="2798941"/>
            <a:ext cx="5431974" cy="5579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lang="en-GB" sz="1400"/>
            </a:lvl1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CFAA9685-06EC-4773-81F4-2283913996D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22257" y="3569314"/>
            <a:ext cx="5433200" cy="365129"/>
          </a:xfrm>
        </p:spPr>
        <p:txBody>
          <a:bodyPr/>
          <a:lstStyle>
            <a:lvl1pPr marL="0" indent="0">
              <a:buNone/>
              <a:defRPr lang="en-GB" sz="2000" cap="all" spc="150"/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D4BC4F80-3B58-425E-AF4B-6E0C031717C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21828" y="3898736"/>
            <a:ext cx="5431974" cy="5579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lang="en-GB" sz="1400"/>
            </a:lvl1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C586C98-794C-4078-85F7-A91B96AA2D9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22257" y="4669109"/>
            <a:ext cx="5433200" cy="365129"/>
          </a:xfrm>
        </p:spPr>
        <p:txBody>
          <a:bodyPr/>
          <a:lstStyle>
            <a:lvl1pPr marL="0" indent="0">
              <a:buNone/>
              <a:defRPr lang="en-GB" sz="2000" cap="all" spc="150"/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98864167-2095-40E7-84D8-DC70BA5D260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21828" y="4998531"/>
            <a:ext cx="5431974" cy="5579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lang="en-GB" sz="1400"/>
            </a:lvl1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692B2178-FD79-4B8B-BFD3-7C4F973FBE9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4C340681-270A-4BF8-8F4A-49E4D15B0BF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nvl2 : 249025520</a:t>
            </a: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584BC033-D7B2-4B4E-BB80-C508D347B86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FFA673-CF36-425D-BF26-F0F1AB39A82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235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solidFill>
          <a:srgbClr val="E9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5CA1A-4ECE-4160-A9F0-B873679608C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GB" sz="2800" spc="150"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7BC94DF8-62AC-4641-A050-6BE19610E61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48747" y="1361934"/>
            <a:ext cx="6765929" cy="496884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6">
            <a:extLst>
              <a:ext uri="{FF2B5EF4-FFF2-40B4-BE49-F238E27FC236}">
                <a16:creationId xmlns:a16="http://schemas.microsoft.com/office/drawing/2014/main" id="{356F2D1E-387D-4F52-872D-F5A376DDAE8F}"/>
              </a:ext>
            </a:extLst>
          </p:cNvPr>
          <p:cNvSpPr txBox="1">
            <a:spLocks noGrp="1"/>
          </p:cNvSpPr>
          <p:nvPr>
            <p:ph type="chart" idx="4294967295"/>
          </p:nvPr>
        </p:nvSpPr>
        <p:spPr>
          <a:xfrm>
            <a:off x="838203" y="2286000"/>
            <a:ext cx="6094265" cy="3542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chart</a:t>
            </a:r>
            <a:endParaRPr lang="en-GB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50F79B6-33BA-44DE-AC71-8ECF221CBD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58125" y="2284628"/>
            <a:ext cx="3147328" cy="306388"/>
          </a:xfrm>
        </p:spPr>
        <p:txBody>
          <a:bodyPr>
            <a:noAutofit/>
          </a:bodyPr>
          <a:lstStyle>
            <a:lvl1pPr marL="0" indent="0">
              <a:buNone/>
              <a:defRPr sz="1400" cap="all" spc="1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5C9FAEAC-A8D4-457C-B85B-3265C2A602F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858125" y="2779711"/>
            <a:ext cx="3148014" cy="3095628"/>
          </a:xfrm>
        </p:spPr>
        <p:txBody>
          <a:bodyPr/>
          <a:lstStyle>
            <a:lvl1pPr marL="0" indent="0">
              <a:buNone/>
              <a:defRPr lang="en-GB" sz="1200">
                <a:solidFill>
                  <a:srgbClr val="595959"/>
                </a:solidFill>
              </a:defRPr>
            </a:lvl1pPr>
          </a:lstStyle>
          <a:p>
            <a:pPr lvl="0"/>
            <a:r>
              <a:rPr lang="en-GB"/>
              <a:t>Click to add content</a:t>
            </a:r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76A46AB5-635F-405A-83A6-7619D480E85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E76A7ABB-77C1-4CF7-8F3C-9243211D273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nvl2 : 249025520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087E2843-B825-43D1-8E6C-2C9A29A3192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C072B51-374B-42FF-A79D-65A9ABF323D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1932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B2E3AD34-2EFC-4026-80FD-27BFE879AC16}"/>
              </a:ext>
            </a:extLst>
          </p:cNvPr>
          <p:cNvSpPr/>
          <p:nvPr/>
        </p:nvSpPr>
        <p:spPr>
          <a:xfrm>
            <a:off x="0" y="3057680"/>
            <a:ext cx="12191996" cy="2010189"/>
          </a:xfrm>
          <a:prstGeom prst="rect">
            <a:avLst/>
          </a:prstGeom>
          <a:solidFill>
            <a:srgbClr val="E9E6D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Tenorite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37DDA56-95EC-4F30-B838-E2CA176E039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GB" sz="2800" spc="150"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D2AB901-6B89-4C5E-B04F-9BA2CC1D151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0" y="3354714"/>
            <a:ext cx="731520" cy="457200"/>
          </a:xfrm>
        </p:spPr>
        <p:txBody>
          <a:bodyPr anchor="ctr"/>
          <a:lstStyle>
            <a:lvl1pPr marL="0" indent="0">
              <a:buNone/>
              <a:defRPr lang="en-GB" sz="1400" b="1"/>
            </a:lvl1pPr>
          </a:lstStyle>
          <a:p>
            <a:pPr lvl="0"/>
            <a:r>
              <a:rPr lang="en-GB"/>
              <a:t>Year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7595C74-7370-4D41-8AE7-2E636253F2B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65960" y="3502151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F7602447-F6E8-4784-B4EE-122743E8384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53880" y="3502151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EEC1542D-BDBC-457A-BEF5-A97047BBDB2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41800" y="3502151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8A9D82A-0B1B-4A9F-B6FD-AA1E371EFFE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329720" y="3502151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D3F8FF1-4C28-402C-B7BB-7C74519852A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17640" y="3502151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01866EC-8FE9-4907-8DB8-562A53DE7A2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05560" y="3502151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F86827-8AA3-4D82-BE0E-1E95BCAD218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93481" y="3502151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C86100A-1C28-49BA-BF68-CBC886F57C3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481401" y="3502151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93BEA22-5CCE-4B9D-9445-B558F7AC725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269321" y="3502151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4E7CF698-64E5-4F3C-B892-9EF200B02E8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057241" y="3502151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C6BA2CE0-B12B-471B-9E5A-5B981E4DFF3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845161" y="3502151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9F89DD7D-1E1A-46E3-A1B8-59473F794A3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633082" y="3502151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4FA92CB0-1542-456F-91D6-9C940EC9704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0" y="4292467"/>
            <a:ext cx="731520" cy="457200"/>
          </a:xfrm>
        </p:spPr>
        <p:txBody>
          <a:bodyPr anchor="ctr"/>
          <a:lstStyle>
            <a:lvl1pPr marL="0" indent="0">
              <a:buNone/>
              <a:defRPr lang="en-GB" sz="1400" b="1"/>
            </a:lvl1pPr>
          </a:lstStyle>
          <a:p>
            <a:pPr lvl="0"/>
            <a:r>
              <a:rPr lang="en-GB"/>
              <a:t>Year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F3181ED-F223-437D-9116-E3143294F1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69919" y="4425696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19FC864-9D96-4FA5-BC70-974DA6C4E72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57601" y="4425696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FE1B7934-17EC-4725-9EC3-90C70B5C0E7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45293" y="4425696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0E3369DD-DC70-4695-BA36-195C085ED0C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332975" y="4425696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15FACAC0-7263-47FA-87D2-C22DED8818B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20667" y="4425696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4B97B1E4-48B5-48C6-B927-2D4543CA912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08349" y="4425696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54D0A0F-9AEF-42A3-A291-2DF46F9109D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96041" y="4425696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5E52AD1-246C-4BA1-8ADF-3A3AD9B313C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483723" y="4425696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9462F07-BB3C-4DAE-8B2A-F4B462C3F73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271415" y="4425696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FA12D7D0-8A40-4561-BDE7-C44B328BE6F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059097" y="4425696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564C87F8-75FC-47FA-9D07-37362C20DD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846789" y="4425696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A5FCADD4-0E77-4968-83E5-363F6E32C3C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634472" y="4425696"/>
            <a:ext cx="640080" cy="201771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/>
            </a:lvl1pPr>
          </a:lstStyle>
          <a:p>
            <a:pPr lvl="0"/>
            <a:r>
              <a:rPr lang="en-GB"/>
              <a:t>MM</a:t>
            </a:r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E72C7E69-E44F-4FA4-BA43-AAD51EAD1742}"/>
              </a:ext>
            </a:extLst>
          </p:cNvPr>
          <p:cNvSpPr/>
          <p:nvPr/>
        </p:nvSpPr>
        <p:spPr>
          <a:xfrm>
            <a:off x="929643" y="4034780"/>
            <a:ext cx="10332720" cy="45720"/>
          </a:xfrm>
          <a:prstGeom prst="rect">
            <a:avLst/>
          </a:prstGeom>
          <a:solidFill>
            <a:srgbClr val="00000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404040"/>
              </a:solidFill>
              <a:uFillTx/>
              <a:latin typeface="Tenorite"/>
            </a:endParaRPr>
          </a:p>
        </p:txBody>
      </p: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B39A59B3-7702-48FC-8CDF-A8ED05D1062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32" name="Footer Placeholder 3">
            <a:extLst>
              <a:ext uri="{FF2B5EF4-FFF2-40B4-BE49-F238E27FC236}">
                <a16:creationId xmlns:a16="http://schemas.microsoft.com/office/drawing/2014/main" id="{B6BDDDA7-32D5-4D08-8B3B-24E34D5561E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nvl2 : 249025520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021C4D13-85F6-4164-B705-2E7CD0C556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1A4B7B9-A308-4A01-8739-F5007029481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986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rt 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57FB0-E155-4C22-A471-17D03B74C97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>
            <a:lvl1pPr algn="ctr">
              <a:defRPr lang="en-GB" sz="2800" spc="150"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SmartArt Placeholder 6">
            <a:extLst>
              <a:ext uri="{FF2B5EF4-FFF2-40B4-BE49-F238E27FC236}">
                <a16:creationId xmlns:a16="http://schemas.microsoft.com/office/drawing/2014/main" id="{5D6239C2-BB82-495A-973A-C5DD0D6F3901}"/>
              </a:ext>
            </a:extLst>
          </p:cNvPr>
          <p:cNvSpPr txBox="1">
            <a:spLocks noGrp="1"/>
          </p:cNvSpPr>
          <p:nvPr>
            <p:ph type="dgm" idx="4294967295"/>
          </p:nvPr>
        </p:nvSpPr>
        <p:spPr>
          <a:xfrm>
            <a:off x="838203" y="2139083"/>
            <a:ext cx="10515600" cy="36953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SmartArt graphic</a:t>
            </a:r>
            <a:endParaRPr lang="en-GB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2FEEB5BF-F5C1-4BD2-ADD4-827A3968196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7ACD553-F410-412E-97F8-D8BB2389508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nvl2 : 249025520</a:t>
            </a:r>
          </a:p>
        </p:txBody>
      </p:sp>
      <p:cxnSp>
        <p:nvCxnSpPr>
          <p:cNvPr id="6" name="Straight Connector 9">
            <a:extLst>
              <a:ext uri="{FF2B5EF4-FFF2-40B4-BE49-F238E27FC236}">
                <a16:creationId xmlns:a16="http://schemas.microsoft.com/office/drawing/2014/main" id="{D1359574-B10F-47D7-A9F8-8D018FC15AD0}"/>
              </a:ext>
            </a:extLst>
          </p:cNvPr>
          <p:cNvCxnSpPr/>
          <p:nvPr/>
        </p:nvCxnSpPr>
        <p:spPr>
          <a:xfrm flipV="1">
            <a:off x="0" y="0"/>
            <a:ext cx="2590796" cy="761996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7" name="Straight Connector 11">
            <a:extLst>
              <a:ext uri="{FF2B5EF4-FFF2-40B4-BE49-F238E27FC236}">
                <a16:creationId xmlns:a16="http://schemas.microsoft.com/office/drawing/2014/main" id="{E3318B29-167F-4FBD-B722-487C0D3351F5}"/>
              </a:ext>
            </a:extLst>
          </p:cNvPr>
          <p:cNvCxnSpPr/>
          <p:nvPr/>
        </p:nvCxnSpPr>
        <p:spPr>
          <a:xfrm flipH="1">
            <a:off x="0" y="0"/>
            <a:ext cx="704846" cy="1027904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951EBF23-8301-4276-AF65-EE4C9B7224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C91E83-8690-4EED-BFCC-752BCB525C1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24688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FE9D-8997-497B-9E2C-A8314AA288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85154" y="892180"/>
            <a:ext cx="8421688" cy="1325559"/>
          </a:xfrm>
        </p:spPr>
        <p:txBody>
          <a:bodyPr anchorCtr="1"/>
          <a:lstStyle>
            <a:lvl1pPr algn="ctr">
              <a:defRPr lang="en-GB" sz="2800" spc="150"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D82056C-7A74-4D5A-83D7-7CD0EC0E93D2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487180" y="2886074"/>
            <a:ext cx="1845515" cy="1845515"/>
          </a:xfrm>
          <a:solidFill>
            <a:srgbClr val="F2F2F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355F80F-981A-4D7A-9C18-E42560F606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311560" y="5084521"/>
            <a:ext cx="2196617" cy="343064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lang="en-GB" sz="1400" spc="150"/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33F98B9-00BA-46B8-8474-4425B4C8783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487180" y="5464116"/>
            <a:ext cx="1845515" cy="343064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 spc="150"/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FA5BCC26-FA06-4072-A83A-31C63D682289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3836913" y="2886074"/>
            <a:ext cx="1845515" cy="1845515"/>
          </a:xfrm>
          <a:solidFill>
            <a:srgbClr val="F2F2F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5BC0FFE-BFA7-43DE-A73A-ED3FDE9F96C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707608" y="5099206"/>
            <a:ext cx="2145045" cy="343064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lang="en-GB" sz="1400" spc="150"/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C3679C9-D19D-4359-AAE8-9B1001957BC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836913" y="5478792"/>
            <a:ext cx="1855948" cy="343064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 spc="150"/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F515220C-5BA5-452A-AE49-6C600FC13CB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327574" y="2886074"/>
            <a:ext cx="1845515" cy="1845515"/>
          </a:xfrm>
          <a:solidFill>
            <a:srgbClr val="F2F2F2"/>
          </a:solidFill>
        </p:spPr>
        <p:txBody>
          <a:bodyPr/>
          <a:lstStyle>
            <a:lvl1pPr marL="685800" lvl="1">
              <a:spcBef>
                <a:spcPts val="500"/>
              </a:spcBef>
              <a:defRPr sz="2400"/>
            </a:lvl1pPr>
          </a:lstStyle>
          <a:p>
            <a:pPr lvl="1"/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05B7A1-FDD1-4AEF-B77F-D8713D2BC38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98269" y="5099206"/>
            <a:ext cx="2132984" cy="343064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lang="en-GB" sz="1400" spc="150"/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5A57870-222D-49E9-B493-41087A523B7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27574" y="5478792"/>
            <a:ext cx="1845515" cy="343064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 spc="150"/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017B37E4-5ED6-44ED-852B-26F8474A8130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8747461" y="2886074"/>
            <a:ext cx="1845515" cy="1845515"/>
          </a:xfrm>
          <a:solidFill>
            <a:srgbClr val="F2F2F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9618148-0D54-4231-A5CC-D2D57E25310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618155" y="5084521"/>
            <a:ext cx="2132984" cy="343064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lang="en-GB" sz="1400" spc="150"/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DBEFB33-5A15-4B36-9F0F-61CEE40840B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747461" y="5464116"/>
            <a:ext cx="1845506" cy="343064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00" spc="150"/>
            </a:lvl1pPr>
          </a:lstStyle>
          <a:p>
            <a:pPr lvl="0"/>
            <a:r>
              <a:rPr lang="en-GB"/>
              <a:t>CLICK TO EDIT</a:t>
            </a:r>
          </a:p>
        </p:txBody>
      </p:sp>
      <p:cxnSp>
        <p:nvCxnSpPr>
          <p:cNvPr id="15" name="Straight Connector 9">
            <a:extLst>
              <a:ext uri="{FF2B5EF4-FFF2-40B4-BE49-F238E27FC236}">
                <a16:creationId xmlns:a16="http://schemas.microsoft.com/office/drawing/2014/main" id="{4A5ECD6F-1725-42D6-BFD4-B207D1DD99CC}"/>
              </a:ext>
            </a:extLst>
          </p:cNvPr>
          <p:cNvCxnSpPr/>
          <p:nvPr/>
        </p:nvCxnSpPr>
        <p:spPr>
          <a:xfrm flipH="1" flipV="1">
            <a:off x="7334246" y="0"/>
            <a:ext cx="4857750" cy="761996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6" name="Straight Connector 14">
            <a:extLst>
              <a:ext uri="{FF2B5EF4-FFF2-40B4-BE49-F238E27FC236}">
                <a16:creationId xmlns:a16="http://schemas.microsoft.com/office/drawing/2014/main" id="{6FCAE19F-E28E-4279-A80A-896AA360C12C}"/>
              </a:ext>
            </a:extLst>
          </p:cNvPr>
          <p:cNvCxnSpPr/>
          <p:nvPr/>
        </p:nvCxnSpPr>
        <p:spPr>
          <a:xfrm>
            <a:off x="11487150" y="0"/>
            <a:ext cx="704846" cy="1724028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sp>
        <p:nvSpPr>
          <p:cNvPr id="17" name="Date Placeholder 6">
            <a:extLst>
              <a:ext uri="{FF2B5EF4-FFF2-40B4-BE49-F238E27FC236}">
                <a16:creationId xmlns:a16="http://schemas.microsoft.com/office/drawing/2014/main" id="{3E0E1F75-9B30-43D4-B59B-DD51B447283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18" name="Footer Placeholder 7">
            <a:extLst>
              <a:ext uri="{FF2B5EF4-FFF2-40B4-BE49-F238E27FC236}">
                <a16:creationId xmlns:a16="http://schemas.microsoft.com/office/drawing/2014/main" id="{1326EC2F-F314-4F3E-A67E-9C8F019273C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nvl2 : 249025520</a:t>
            </a:r>
          </a:p>
        </p:txBody>
      </p:sp>
      <p:sp>
        <p:nvSpPr>
          <p:cNvPr id="19" name="Slide Number Placeholder 8">
            <a:extLst>
              <a:ext uri="{FF2B5EF4-FFF2-40B4-BE49-F238E27FC236}">
                <a16:creationId xmlns:a16="http://schemas.microsoft.com/office/drawing/2014/main" id="{D92C8388-9BE7-444F-A3B7-917C56CE6FD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2674A0B-BFD7-4CAE-AB62-CF0D1EFB897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9972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64E69-B55E-4F24-9279-0387CC1896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85154" y="892180"/>
            <a:ext cx="8421688" cy="1325559"/>
          </a:xfrm>
        </p:spPr>
        <p:txBody>
          <a:bodyPr anchorCtr="1"/>
          <a:lstStyle>
            <a:lvl1pPr algn="ctr">
              <a:defRPr lang="en-GB" sz="280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91A22855-D478-4EE8-8C2C-02CA7C6085A0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877171" y="2428874"/>
            <a:ext cx="1066803" cy="1066803"/>
          </a:xfrm>
          <a:solidFill>
            <a:srgbClr val="FFFFFF"/>
          </a:solidFill>
        </p:spPr>
        <p:txBody>
          <a:bodyPr/>
          <a:lstStyle>
            <a:lvl1pPr marL="0" indent="0">
              <a:lnSpc>
                <a:spcPct val="100000"/>
              </a:lnSpc>
              <a:buNone/>
              <a:defRPr sz="90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DD9C4AF-9AA8-4742-97E8-EAC4429BCEF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500164" y="3654381"/>
            <a:ext cx="1828800" cy="343064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5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78FD08F-8FA6-480C-AB70-08800CC1883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390116" y="3782040"/>
            <a:ext cx="2057400" cy="343064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lang="en-GB" sz="900" spc="150">
                <a:solidFill>
                  <a:srgbClr val="E9E6DF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71904AAD-A616-45D0-9E07-19651E38E010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226274" y="2428874"/>
            <a:ext cx="1066803" cy="1066803"/>
          </a:xfrm>
          <a:solidFill>
            <a:srgbClr val="FFFFFF"/>
          </a:solidFill>
        </p:spPr>
        <p:txBody>
          <a:bodyPr/>
          <a:lstStyle>
            <a:lvl1pPr marL="0" indent="0">
              <a:lnSpc>
                <a:spcPct val="100000"/>
              </a:lnSpc>
              <a:buNone/>
              <a:defRPr sz="90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A956F2E-1422-4283-A170-009E450849C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849258" y="3669057"/>
            <a:ext cx="1828800" cy="343064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5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2F52420-9C84-4350-A3E9-F4296B75F41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739210" y="3796716"/>
            <a:ext cx="2057400" cy="343064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lang="en-GB" sz="900" spc="150">
                <a:solidFill>
                  <a:srgbClr val="E9E6DF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E0D8745F-1F91-4AA4-98C0-0E5B3A8BCD4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716935" y="2428874"/>
            <a:ext cx="1066803" cy="1066803"/>
          </a:xfrm>
          <a:solidFill>
            <a:srgbClr val="FFFFFF"/>
          </a:solidFill>
        </p:spPr>
        <p:txBody>
          <a:bodyPr/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5083754-A8F5-45D5-89D4-F34E5C19558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39928" y="3669057"/>
            <a:ext cx="1828800" cy="343064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5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B91A4C2-B4BA-4D7E-AB08-CE542AA91FA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217965" y="3796716"/>
            <a:ext cx="2057400" cy="343064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lang="en-GB" sz="900" spc="150">
                <a:solidFill>
                  <a:srgbClr val="E9E6DF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E27FE931-02DA-4A49-B30A-E30EC79DDFF1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9136812" y="2428874"/>
            <a:ext cx="1066803" cy="1066803"/>
          </a:xfrm>
          <a:solidFill>
            <a:srgbClr val="FFFFFF"/>
          </a:solidFill>
        </p:spPr>
        <p:txBody>
          <a:bodyPr/>
          <a:lstStyle>
            <a:lvl1pPr marL="0" indent="0">
              <a:lnSpc>
                <a:spcPct val="100000"/>
              </a:lnSpc>
              <a:buNone/>
              <a:defRPr sz="90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74221D4-51AA-4B16-BD57-19DD46EC71F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759805" y="3654381"/>
            <a:ext cx="1828800" cy="343064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5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31CBA99-61AA-4E9C-9D1E-DE817D215A7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634432" y="3782040"/>
            <a:ext cx="2057400" cy="343064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lang="en-GB" sz="900" spc="150">
                <a:solidFill>
                  <a:srgbClr val="E9E6DF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003E38BD-A5DF-486C-96A0-7605EB6DF773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877171" y="4287713"/>
            <a:ext cx="1066803" cy="1066803"/>
          </a:xfrm>
          <a:solidFill>
            <a:srgbClr val="FFFFFF"/>
          </a:solidFill>
        </p:spPr>
        <p:txBody>
          <a:bodyPr/>
          <a:lstStyle>
            <a:lvl1pPr marL="0" indent="0">
              <a:lnSpc>
                <a:spcPct val="100000"/>
              </a:lnSpc>
              <a:buNone/>
              <a:defRPr sz="90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107EFC9-6469-477D-B7EB-86768BDD9AE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500164" y="5513210"/>
            <a:ext cx="1828800" cy="343064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5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10FCB27-9624-4427-AFB9-7201AB42733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390116" y="5640878"/>
            <a:ext cx="2057400" cy="343064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lang="en-GB" sz="900" spc="150">
                <a:solidFill>
                  <a:srgbClr val="E9E6DF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C1ECA36A-67CC-4DB3-A897-F3A4B6FC145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226274" y="4287713"/>
            <a:ext cx="1066803" cy="1066803"/>
          </a:xfrm>
          <a:solidFill>
            <a:srgbClr val="FFFFFF"/>
          </a:solidFill>
        </p:spPr>
        <p:txBody>
          <a:bodyPr/>
          <a:lstStyle>
            <a:lvl1pPr marL="0" indent="0">
              <a:lnSpc>
                <a:spcPct val="100000"/>
              </a:lnSpc>
              <a:buNone/>
              <a:defRPr sz="90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BCF4425-3B8A-4A28-8DD8-5E8019EEDEB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849258" y="5527895"/>
            <a:ext cx="1828800" cy="343064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5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A52A099-9F5D-4827-8087-F1C8E64B92E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739210" y="5655554"/>
            <a:ext cx="2057400" cy="343064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lang="en-GB" sz="900" spc="150">
                <a:solidFill>
                  <a:srgbClr val="E9E6DF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1BB382D1-5C4D-4E58-80E2-4945466A5774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716935" y="4287713"/>
            <a:ext cx="1066803" cy="1066803"/>
          </a:xfrm>
          <a:solidFill>
            <a:srgbClr val="FFFFFF"/>
          </a:solidFill>
        </p:spPr>
        <p:txBody>
          <a:bodyPr/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43677BE-8074-4970-950F-C60C107E8E4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39928" y="5527895"/>
            <a:ext cx="1828800" cy="343064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5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BF539B6-1538-4064-B119-7F0A9299BAB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229880" y="5655554"/>
            <a:ext cx="2057400" cy="343064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lang="en-GB" sz="900" spc="150">
                <a:solidFill>
                  <a:srgbClr val="E9E6DF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AD70DE01-7221-4C25-B3D5-3D79ECD0F016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9136812" y="4287713"/>
            <a:ext cx="1066803" cy="1066803"/>
          </a:xfrm>
          <a:solidFill>
            <a:srgbClr val="FFFFFF"/>
          </a:solidFill>
        </p:spPr>
        <p:txBody>
          <a:bodyPr/>
          <a:lstStyle>
            <a:lvl1pPr marL="0" indent="0">
              <a:lnSpc>
                <a:spcPct val="100000"/>
              </a:lnSpc>
              <a:buNone/>
              <a:defRPr sz="900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E41EFF9-B3AA-4425-972F-8B3EA819939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759805" y="5513210"/>
            <a:ext cx="1828800" cy="343064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05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97DA3DB-32C0-4F66-B85E-D137F6B22CD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634432" y="5640878"/>
            <a:ext cx="2057400" cy="343064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lang="en-GB" sz="900" spc="150">
                <a:solidFill>
                  <a:srgbClr val="E9E6DF"/>
                </a:solidFill>
              </a:defRPr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27" name="Date Placeholder 6">
            <a:extLst>
              <a:ext uri="{FF2B5EF4-FFF2-40B4-BE49-F238E27FC236}">
                <a16:creationId xmlns:a16="http://schemas.microsoft.com/office/drawing/2014/main" id="{6EAECCEF-7A6B-4D03-B1F9-EB0713E1B4D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28" name="Footer Placeholder 7">
            <a:extLst>
              <a:ext uri="{FF2B5EF4-FFF2-40B4-BE49-F238E27FC236}">
                <a16:creationId xmlns:a16="http://schemas.microsoft.com/office/drawing/2014/main" id="{A4EB6D4F-F62A-422E-B9DC-45114C040AB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nvl2 : 249025520</a:t>
            </a:r>
          </a:p>
        </p:txBody>
      </p:sp>
      <p:sp>
        <p:nvSpPr>
          <p:cNvPr id="29" name="Slide Number Placeholder 8">
            <a:extLst>
              <a:ext uri="{FF2B5EF4-FFF2-40B4-BE49-F238E27FC236}">
                <a16:creationId xmlns:a16="http://schemas.microsoft.com/office/drawing/2014/main" id="{980EBE79-4932-479D-A56B-6114571C3B8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4C0F935-2146-4992-AA17-CEEAA775D141}" type="slidenum">
              <a:t>‹#›</a:t>
            </a:fld>
            <a:endParaRPr lang="en-GB"/>
          </a:p>
        </p:txBody>
      </p:sp>
      <p:pic>
        <p:nvPicPr>
          <p:cNvPr id="30" name="Graphic 12">
            <a:extLst>
              <a:ext uri="{FF2B5EF4-FFF2-40B4-BE49-F238E27FC236}">
                <a16:creationId xmlns:a16="http://schemas.microsoft.com/office/drawing/2014/main" id="{26E0C112-DF04-44AE-9754-0407152E8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1"/>
            <a:ext cx="2057400" cy="164782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1" name="Graphic 13">
            <a:extLst>
              <a:ext uri="{FF2B5EF4-FFF2-40B4-BE49-F238E27FC236}">
                <a16:creationId xmlns:a16="http://schemas.microsoft.com/office/drawing/2014/main" id="{3AC1B073-FDFF-4927-A6EF-95BF7EF3B2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8996" y="5180889"/>
            <a:ext cx="1143000" cy="91440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5252919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5">
            <a:extLst>
              <a:ext uri="{FF2B5EF4-FFF2-40B4-BE49-F238E27FC236}">
                <a16:creationId xmlns:a16="http://schemas.microsoft.com/office/drawing/2014/main" id="{72C9767D-64C3-4DFB-AFB7-1788810D785B}"/>
              </a:ext>
            </a:extLst>
          </p:cNvPr>
          <p:cNvCxnSpPr/>
          <p:nvPr/>
        </p:nvCxnSpPr>
        <p:spPr>
          <a:xfrm flipH="1">
            <a:off x="0" y="0"/>
            <a:ext cx="1238253" cy="1328056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9">
            <a:extLst>
              <a:ext uri="{FF2B5EF4-FFF2-40B4-BE49-F238E27FC236}">
                <a16:creationId xmlns:a16="http://schemas.microsoft.com/office/drawing/2014/main" id="{B3856B8C-49D3-4CD4-9847-E7C653271376}"/>
              </a:ext>
            </a:extLst>
          </p:cNvPr>
          <p:cNvCxnSpPr/>
          <p:nvPr/>
        </p:nvCxnSpPr>
        <p:spPr>
          <a:xfrm flipH="1">
            <a:off x="0" y="0"/>
            <a:ext cx="3790946" cy="892180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D76A3A1C-2658-44BD-A398-51B659D989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85154" y="892180"/>
            <a:ext cx="8421688" cy="1325559"/>
          </a:xfrm>
        </p:spPr>
        <p:txBody>
          <a:bodyPr anchorCtr="1"/>
          <a:lstStyle>
            <a:lvl1pPr algn="ctr">
              <a:defRPr lang="en-GB" sz="2800" spc="150"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D08F6620-F641-4C08-AAC8-68CB8B409C4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075444" y="2118646"/>
            <a:ext cx="1856231" cy="1664208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lvl="0"/>
            <a:r>
              <a:rPr lang="en-GB"/>
              <a:t>Click to add content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9EEDEFB-F349-4D3D-A561-2AEE7581C39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8203" y="3788816"/>
            <a:ext cx="2330723" cy="804854"/>
          </a:xfrm>
        </p:spPr>
        <p:txBody>
          <a:bodyPr lIns="0" rIns="0" anchor="b" anchorCtr="1">
            <a:noAutofit/>
          </a:bodyPr>
          <a:lstStyle>
            <a:lvl1pPr marL="0" indent="0" algn="ctr">
              <a:buNone/>
              <a:defRPr lang="en-GB" sz="3200" spc="150"/>
            </a:lvl1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1B9C82E-E8E6-4AAC-9E59-1FFDBF14495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8203" y="4464814"/>
            <a:ext cx="2330723" cy="438500"/>
          </a:xfrm>
        </p:spPr>
        <p:txBody>
          <a:bodyPr lIns="0" rIns="0" anchor="b" anchorCtr="1">
            <a:noAutofit/>
          </a:bodyPr>
          <a:lstStyle>
            <a:lvl1pPr marL="0" indent="0" algn="ctr">
              <a:buNone/>
              <a:defRPr lang="en-GB" sz="1400" spc="150"/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42CACBB-1F2A-4D65-94AD-4C481708F4F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38203" y="5120722"/>
            <a:ext cx="2330723" cy="853162"/>
          </a:xfrm>
        </p:spPr>
        <p:txBody>
          <a:bodyPr lIns="0" rIns="0" anchorCtr="1"/>
          <a:lstStyle>
            <a:lvl1pPr marL="0" indent="0" algn="ctr">
              <a:lnSpc>
                <a:spcPct val="100000"/>
              </a:lnSpc>
              <a:buNone/>
              <a:defRPr sz="1400" spc="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EB18C04-0BC5-4004-8927-B4D1536CBD7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811392" y="2118646"/>
            <a:ext cx="1856231" cy="1664208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lvl="0"/>
            <a:r>
              <a:rPr lang="en-GB"/>
              <a:t>Click to add content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3A20978-CAB7-4C68-BA31-D1D30E8E04A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62666" y="3788816"/>
            <a:ext cx="2342208" cy="804854"/>
          </a:xfrm>
        </p:spPr>
        <p:txBody>
          <a:bodyPr lIns="0" rIns="0" anchor="b" anchorCtr="1">
            <a:noAutofit/>
          </a:bodyPr>
          <a:lstStyle>
            <a:lvl1pPr marL="0" indent="0" algn="ctr">
              <a:buNone/>
              <a:defRPr lang="en-GB" sz="3200" spc="150"/>
            </a:lvl1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D71EDAA-6D40-49A2-84D7-728EA32D60F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62666" y="4464814"/>
            <a:ext cx="2342208" cy="438500"/>
          </a:xfrm>
        </p:spPr>
        <p:txBody>
          <a:bodyPr lIns="0" rIns="0" anchor="b">
            <a:noAutofit/>
          </a:bodyPr>
          <a:lstStyle>
            <a:lvl1pPr marL="0" indent="0">
              <a:buNone/>
              <a:defRPr lang="en-GB" sz="1400" spc="150"/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14D70C1-687D-4572-8CCF-43AEDE81245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562666" y="5120722"/>
            <a:ext cx="2342208" cy="853162"/>
          </a:xfrm>
        </p:spPr>
        <p:txBody>
          <a:bodyPr lIns="0" rIns="0" anchorCtr="1"/>
          <a:lstStyle>
            <a:lvl1pPr marL="0" indent="0" algn="ctr">
              <a:lnSpc>
                <a:spcPct val="100000"/>
              </a:lnSpc>
              <a:buNone/>
              <a:defRPr sz="1400" spc="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B9901D12-00E3-45D9-919F-71CF558A847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524381" y="2118646"/>
            <a:ext cx="1856231" cy="1664208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lvl="0"/>
            <a:r>
              <a:rPr lang="en-GB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1451541-F7B9-4657-8E28-20E8898293B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298606" y="3788816"/>
            <a:ext cx="2330723" cy="804854"/>
          </a:xfrm>
        </p:spPr>
        <p:txBody>
          <a:bodyPr lIns="0" rIns="0" anchor="b" anchorCtr="1">
            <a:noAutofit/>
          </a:bodyPr>
          <a:lstStyle>
            <a:lvl1pPr marL="0" indent="0" algn="ctr">
              <a:buNone/>
              <a:defRPr lang="en-GB" sz="3200" spc="150"/>
            </a:lvl1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AE4F9ED-7892-444C-B6C6-529D1D8ECB4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298606" y="4464814"/>
            <a:ext cx="2330723" cy="438500"/>
          </a:xfrm>
        </p:spPr>
        <p:txBody>
          <a:bodyPr lIns="0" rIns="0" anchor="b" anchorCtr="1">
            <a:noAutofit/>
          </a:bodyPr>
          <a:lstStyle>
            <a:lvl1pPr marL="0" indent="0" algn="ctr">
              <a:buNone/>
              <a:defRPr lang="en-GB" sz="1400" spc="150"/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2BEC261-3047-4B6D-B704-ED7A67E15AD0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298606" y="5120722"/>
            <a:ext cx="2330723" cy="853162"/>
          </a:xfrm>
        </p:spPr>
        <p:txBody>
          <a:bodyPr lIns="0" rIns="0" anchorCtr="1"/>
          <a:lstStyle>
            <a:lvl1pPr marL="0" indent="0" algn="ctr">
              <a:lnSpc>
                <a:spcPct val="100000"/>
              </a:lnSpc>
              <a:buNone/>
              <a:defRPr sz="1400" spc="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51C22A64-523C-4E27-ACC9-E80165B70AD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9260320" y="2118646"/>
            <a:ext cx="1856231" cy="1664208"/>
          </a:xfrm>
        </p:spPr>
        <p:txBody>
          <a:bodyPr anchorCtr="1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lvl="0"/>
            <a:r>
              <a:rPr lang="en-GB"/>
              <a:t>Click to add content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1F1E1B04-9379-4D12-80F0-002B66E9CB3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023070" y="3788459"/>
            <a:ext cx="2330723" cy="804854"/>
          </a:xfrm>
        </p:spPr>
        <p:txBody>
          <a:bodyPr lIns="0" rIns="0" anchor="b" anchorCtr="1">
            <a:noAutofit/>
          </a:bodyPr>
          <a:lstStyle>
            <a:lvl1pPr marL="0" indent="0" algn="ctr">
              <a:buNone/>
              <a:defRPr lang="en-GB" sz="3200" spc="150"/>
            </a:lvl1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6333488-BA13-4D7D-9487-550D2C9F73B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023070" y="4464457"/>
            <a:ext cx="2330723" cy="438500"/>
          </a:xfrm>
        </p:spPr>
        <p:txBody>
          <a:bodyPr lIns="0" rIns="0" anchor="b" anchorCtr="1">
            <a:noAutofit/>
          </a:bodyPr>
          <a:lstStyle>
            <a:lvl1pPr marL="0" indent="0" algn="ctr">
              <a:buNone/>
              <a:defRPr lang="en-GB" sz="1400" spc="150"/>
            </a:lvl1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BF48E194-5C7F-430F-B3A0-E2369185B2D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9023070" y="5120365"/>
            <a:ext cx="2330723" cy="853162"/>
          </a:xfrm>
        </p:spPr>
        <p:txBody>
          <a:bodyPr lIns="0" rIns="0" anchorCtr="1"/>
          <a:lstStyle>
            <a:lvl1pPr marL="0" indent="0" algn="ctr">
              <a:lnSpc>
                <a:spcPct val="100000"/>
              </a:lnSpc>
              <a:buNone/>
              <a:defRPr sz="1400" spc="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D9A624F2-999C-48C5-8FA4-9A5BE3AD8EE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29C84902-10DC-4BBF-8C48-0737B3CD83C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nvl2 : 249025520</a:t>
            </a:r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id="{68E7ED17-EA6D-42C0-91C2-12D6D61C7DA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BA9B74-101A-4A94-84BC-EA847FC9020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3636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9CC32-3FAA-4313-B767-67F6F2A2FE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76871" y="1671642"/>
            <a:ext cx="5111752" cy="1204914"/>
          </a:xfrm>
        </p:spPr>
        <p:txBody>
          <a:bodyPr anchor="b"/>
          <a:lstStyle>
            <a:lvl1pPr>
              <a:defRPr lang="en-GB" sz="2800" spc="150"/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89721-9852-441C-8CBB-FC61F34327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76871" y="3682544"/>
            <a:ext cx="5111752" cy="152558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400" spc="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22">
            <a:extLst>
              <a:ext uri="{FF2B5EF4-FFF2-40B4-BE49-F238E27FC236}">
                <a16:creationId xmlns:a16="http://schemas.microsoft.com/office/drawing/2014/main" id="{6E1210B3-4E6D-4476-AD6B-E38F88097A9B}"/>
              </a:ext>
            </a:extLst>
          </p:cNvPr>
          <p:cNvCxnSpPr/>
          <p:nvPr/>
        </p:nvCxnSpPr>
        <p:spPr>
          <a:xfrm flipH="1" flipV="1">
            <a:off x="0" y="876296"/>
            <a:ext cx="4762496" cy="1628775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5" name="Straight Connector 11">
            <a:extLst>
              <a:ext uri="{FF2B5EF4-FFF2-40B4-BE49-F238E27FC236}">
                <a16:creationId xmlns:a16="http://schemas.microsoft.com/office/drawing/2014/main" id="{2CE3BD46-29F9-4E23-AEAC-33ABEEF3AC02}"/>
              </a:ext>
            </a:extLst>
          </p:cNvPr>
          <p:cNvCxnSpPr/>
          <p:nvPr/>
        </p:nvCxnSpPr>
        <p:spPr>
          <a:xfrm flipH="1" flipV="1">
            <a:off x="2638428" y="0"/>
            <a:ext cx="2124068" cy="5186367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sp>
        <p:nvSpPr>
          <p:cNvPr id="6" name="Date Placeholder 6">
            <a:extLst>
              <a:ext uri="{FF2B5EF4-FFF2-40B4-BE49-F238E27FC236}">
                <a16:creationId xmlns:a16="http://schemas.microsoft.com/office/drawing/2014/main" id="{13394F8E-FCB1-4196-94E3-018132536CF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E7B2245C-6F1F-41B8-A8C8-F0EDA13F786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nvl2 : 249025520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4FC6E463-0170-4454-AF69-B018B45D489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4605D9F-E45C-439B-9A98-A7C9E35E00A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9708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12DF5-C6CC-4F98-8BEA-0A2242D5604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267203" y="1615735"/>
            <a:ext cx="4179566" cy="1524734"/>
          </a:xfrm>
        </p:spPr>
        <p:txBody>
          <a:bodyPr anchor="b">
            <a:noAutofit/>
          </a:bodyPr>
          <a:lstStyle>
            <a:lvl1pPr>
              <a:defRPr lang="en-GB" sz="320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A5BA8-19F7-4D68-9E6E-19DE76FC40E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267203" y="3238100"/>
            <a:ext cx="4179566" cy="2004163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400" spc="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4" name="Graphic 5">
            <a:extLst>
              <a:ext uri="{FF2B5EF4-FFF2-40B4-BE49-F238E27FC236}">
                <a16:creationId xmlns:a16="http://schemas.microsoft.com/office/drawing/2014/main" id="{CA941C25-24F6-48AD-ACAA-CC9B6D6B1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6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FB59B538-3BE0-4C90-9658-5944193B93E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4267203" y="6356351"/>
            <a:ext cx="1774374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9B860BC-DF51-4271-8B89-C00378068D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6479721" y="6356351"/>
            <a:ext cx="2661553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nvl2 : 249025520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CF376BF7-E801-4B37-ACD9-B25159390ED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579428" y="6356351"/>
            <a:ext cx="1774374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71B3C1B1-D372-4048-B9E0-086E62C1F42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479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FCB1AA-B6EB-4A1C-89D1-CFEF0F790A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8DCB5-A376-4CB7-B809-EA49A5339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BBDB6-21C4-480C-8547-B9521C185E6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900" b="0" i="0" u="none" strike="noStrike" kern="1200" cap="none" spc="0" baseline="0">
                <a:solidFill>
                  <a:srgbClr val="898989"/>
                </a:solidFill>
                <a:uFillTx/>
                <a:latin typeface="Tenorite"/>
              </a:defRPr>
            </a:lvl1pPr>
          </a:lstStyle>
          <a:p>
            <a:pPr lvl="0"/>
            <a:r>
              <a:rPr lang="en-US"/>
              <a:t>20XX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EBEBD-8A49-407B-B5D0-0EE4245011C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900" b="0" i="0" u="none" strike="noStrike" kern="1200" cap="none" spc="0" baseline="0">
                <a:solidFill>
                  <a:srgbClr val="898989"/>
                </a:solidFill>
                <a:uFillTx/>
                <a:latin typeface="Tenorite"/>
              </a:defRPr>
            </a:lvl1pPr>
          </a:lstStyle>
          <a:p>
            <a:pPr lvl="0"/>
            <a:r>
              <a:rPr lang="en-GB"/>
              <a:t>nvl2 : 249025520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8E191-F708-45E0-8D1A-984EA72ED3B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900" b="0" i="0" u="none" strike="noStrike" kern="1200" cap="none" spc="0" baseline="0">
                <a:solidFill>
                  <a:srgbClr val="898989"/>
                </a:solidFill>
                <a:uFillTx/>
                <a:latin typeface="Tenorite"/>
              </a:defRPr>
            </a:lvl1pPr>
          </a:lstStyle>
          <a:p>
            <a:pPr lvl="0"/>
            <a:fld id="{4A725721-273D-4520-8323-9965FDE5A70C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all" spc="0" baseline="0">
          <a:solidFill>
            <a:srgbClr val="000000"/>
          </a:solidFill>
          <a:uFillTx/>
          <a:latin typeface="Tenorite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Tenorite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Tenorite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Tenorite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Tenorite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Tenorite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l-utwente-groove/usermanual/blob/master/usermanual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3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5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62E6E-DAC9-4579-9EBA-362D0CDA0C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96202" y="2622334"/>
            <a:ext cx="7866994" cy="1429408"/>
          </a:xfrm>
        </p:spPr>
        <p:txBody>
          <a:bodyPr anchorCtr="1"/>
          <a:lstStyle/>
          <a:p>
            <a:pPr lvl="0" algn="ctr"/>
            <a:r>
              <a:rPr lang="en-GB" dirty="0"/>
              <a:t>Risk Modelling and Analysis for IT Systems using Probabilistic Graph Rewriting Rules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B2409F-72DD-47BB-B5CF-14AB30644854}"/>
              </a:ext>
            </a:extLst>
          </p:cNvPr>
          <p:cNvSpPr txBox="1"/>
          <p:nvPr/>
        </p:nvSpPr>
        <p:spPr>
          <a:xfrm>
            <a:off x="7162275" y="4677750"/>
            <a:ext cx="4941774" cy="39665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2400" b="0" i="0" u="none" strike="noStrike" kern="1200" cap="none" spc="0" baseline="0" dirty="0">
              <a:solidFill>
                <a:srgbClr val="000000"/>
              </a:solidFill>
              <a:uFillTx/>
              <a:latin typeface="Tenorite"/>
            </a:endParaRPr>
          </a:p>
        </p:txBody>
      </p:sp>
      <p:sp>
        <p:nvSpPr>
          <p:cNvPr id="4" name="TextBox 31">
            <a:extLst>
              <a:ext uri="{FF2B5EF4-FFF2-40B4-BE49-F238E27FC236}">
                <a16:creationId xmlns:a16="http://schemas.microsoft.com/office/drawing/2014/main" id="{A1C420AB-C2C7-4D34-9297-1D1DA5A908A3}"/>
              </a:ext>
            </a:extLst>
          </p:cNvPr>
          <p:cNvSpPr txBox="1"/>
          <p:nvPr/>
        </p:nvSpPr>
        <p:spPr>
          <a:xfrm>
            <a:off x="3046689" y="1124712"/>
            <a:ext cx="6098627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800" b="0" i="0" u="none" strike="noStrike" kern="1200" cap="none" spc="0" baseline="0">
                <a:solidFill>
                  <a:srgbClr val="000000"/>
                </a:solidFill>
                <a:uFillTx/>
                <a:latin typeface="Tenorite"/>
              </a:rPr>
              <a:t>MSc. Individual Project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43F6B4-8C6A-E169-E74D-7F3452B0F8BD}"/>
              </a:ext>
            </a:extLst>
          </p:cNvPr>
          <p:cNvSpPr txBox="1"/>
          <p:nvPr/>
        </p:nvSpPr>
        <p:spPr>
          <a:xfrm>
            <a:off x="7852541" y="4876078"/>
            <a:ext cx="60986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Student : Neel Vinod Lad </a:t>
            </a:r>
          </a:p>
          <a:p>
            <a:r>
              <a:rPr lang="en-GB" dirty="0"/>
              <a:t>Project Supervisor : Prof. Reiko Heckel </a:t>
            </a:r>
          </a:p>
          <a:p>
            <a:r>
              <a:rPr lang="en-GB" dirty="0"/>
              <a:t>Principal Marker : Dr. Victoria Wright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DA548C5-2CF1-0E85-E0AA-4F62D74D1D56}"/>
              </a:ext>
            </a:extLst>
          </p:cNvPr>
          <p:cNvSpPr>
            <a:spLocks noGrp="1"/>
          </p:cNvSpPr>
          <p:nvPr>
            <p:ph type="ftr" sz="quarter" idx="9"/>
          </p:nvPr>
        </p:nvSpPr>
        <p:spPr>
          <a:xfrm>
            <a:off x="4474028" y="6399381"/>
            <a:ext cx="3243943" cy="365129"/>
          </a:xfrm>
        </p:spPr>
        <p:txBody>
          <a:bodyPr/>
          <a:lstStyle/>
          <a:p>
            <a:pPr lvl="0"/>
            <a:r>
              <a:rPr lang="en-GB" dirty="0"/>
              <a:t>nvl2 : 249025520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D20D-876A-4479-8E4F-35A475E862F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Problem Domain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F34FFE60-A2B6-4653-A590-EE81036D6E39}"/>
              </a:ext>
            </a:extLst>
          </p:cNvPr>
          <p:cNvSpPr txBox="1"/>
          <p:nvPr/>
        </p:nvSpPr>
        <p:spPr>
          <a:xfrm>
            <a:off x="1102658" y="1890936"/>
            <a:ext cx="10361781" cy="378052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Modern IT systems are large and complex.</a:t>
            </a:r>
          </a:p>
          <a:p>
            <a:pPr marL="342900" lvl="0" indent="-342900">
              <a:lnSpc>
                <a:spcPct val="150000"/>
              </a:lnSpc>
              <a:buSzPct val="100000"/>
              <a:buFont typeface="Courier New" pitchFamily="49"/>
              <a:buChar char="o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Traditional checklist-based risk assessments cannot keep pace with modern dynamic attacks</a:t>
            </a: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dirty="0">
                <a:solidFill>
                  <a:srgbClr val="000000"/>
                </a:solidFill>
                <a:latin typeface="Arial" pitchFamily="34"/>
                <a:cs typeface="Arial" pitchFamily="34"/>
              </a:rPr>
              <a:t>How to quantify risk ? 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 </a:t>
            </a:r>
          </a:p>
          <a:p>
            <a:pPr marL="342900" marR="0" lvl="0" indent="-3429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15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Cascading consequences of multi-stage </a:t>
            </a:r>
            <a:r>
              <a:rPr lang="en-GB" spc="150" dirty="0">
                <a:solidFill>
                  <a:srgbClr val="000000"/>
                </a:solidFill>
                <a:latin typeface="Arial" pitchFamily="34"/>
                <a:cs typeface="Arial" pitchFamily="34"/>
              </a:rPr>
              <a:t>cyb</a:t>
            </a:r>
            <a:r>
              <a:rPr lang="en-GB" sz="1800" b="0" i="0" u="none" strike="noStrike" kern="1200" cap="none" spc="15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erattacks</a:t>
            </a:r>
          </a:p>
          <a:p>
            <a:pPr marL="342900" marR="0" lvl="0" indent="-3429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spc="15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For Businesses </a:t>
            </a:r>
            <a:r>
              <a:rPr lang="en-GB" sz="1800" b="0" i="0" u="none" strike="noStrike" kern="1200" cap="all" spc="15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:</a:t>
            </a:r>
          </a:p>
          <a:p>
            <a:pPr marL="1028700" marR="0" lvl="1" indent="-3429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To Spot Loophole</a:t>
            </a:r>
          </a:p>
          <a:p>
            <a:pPr marL="1028700" marR="0" lvl="1" indent="-3429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To Predict and Discover an attack</a:t>
            </a:r>
            <a:endParaRPr lang="en-GB" dirty="0">
              <a:solidFill>
                <a:srgbClr val="000000"/>
              </a:solidFill>
              <a:latin typeface="Arial" pitchFamily="34"/>
              <a:cs typeface="Arial" pitchFamily="34"/>
            </a:endParaRPr>
          </a:p>
          <a:p>
            <a:pPr marL="342900" lvl="0" indent="-342900">
              <a:lnSpc>
                <a:spcPct val="150000"/>
              </a:lnSpc>
              <a:buSzPct val="100000"/>
              <a:buFont typeface="Courier New" pitchFamily="49"/>
              <a:buChar char="o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pc="150" dirty="0">
                <a:solidFill>
                  <a:srgbClr val="000000"/>
                </a:solidFill>
                <a:latin typeface="Arial" pitchFamily="34"/>
                <a:cs typeface="Arial" pitchFamily="34"/>
              </a:rPr>
              <a:t>For Externals agents like insurance </a:t>
            </a:r>
            <a:r>
              <a:rPr lang="en-GB" cap="all" spc="150" dirty="0">
                <a:solidFill>
                  <a:srgbClr val="000000"/>
                </a:solidFill>
                <a:latin typeface="Arial" pitchFamily="34"/>
                <a:cs typeface="Arial" pitchFamily="34"/>
              </a:rPr>
              <a:t>:</a:t>
            </a:r>
          </a:p>
          <a:p>
            <a:pPr marL="1028700" lvl="1" indent="-34290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dirty="0">
                <a:solidFill>
                  <a:srgbClr val="000000"/>
                </a:solidFill>
                <a:latin typeface="Arial" pitchFamily="34"/>
                <a:cs typeface="Arial" pitchFamily="34"/>
              </a:rPr>
              <a:t>- 	To get an estimate cost and probabilities of occurrence of an attack over a time period.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9C9FD-4D63-52DD-D0CA-EF69CE8C5331}"/>
              </a:ext>
            </a:extLst>
          </p:cNvPr>
          <p:cNvSpPr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lvl="0"/>
            <a:r>
              <a:rPr lang="en-GB"/>
              <a:t>nvl2 : 249025520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9354A-B470-411C-8549-437029E4451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About Project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8D2C50FE-05D8-4296-B99F-BE2AFF94B93D}"/>
              </a:ext>
            </a:extLst>
          </p:cNvPr>
          <p:cNvSpPr txBox="1"/>
          <p:nvPr/>
        </p:nvSpPr>
        <p:spPr>
          <a:xfrm>
            <a:off x="1545015" y="1928588"/>
            <a:ext cx="9564422" cy="336502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Bridge the gap between theoretical security models and practical risk.</a:t>
            </a:r>
          </a:p>
          <a:p>
            <a:pPr marL="342900" marR="0" lvl="0" indent="-3429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IT infrastructures are represented as typed, attributed</a:t>
            </a: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directed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 multigraphs.</a:t>
            </a:r>
          </a:p>
          <a:p>
            <a:pPr marL="342900" marR="0" lvl="0" indent="-3429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Attack patterns are encoded as graph transformation rules (MITRE ATT&amp;CK FRAMEWORK).</a:t>
            </a:r>
          </a:p>
          <a:p>
            <a:pPr marL="342900" marR="0" lvl="0" indent="-3429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Vulnerability detection through formal graph pattern matching.</a:t>
            </a:r>
          </a:p>
          <a:p>
            <a:pPr marL="342900" marR="0" lvl="0" indent="-3429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By linking attack rates and probabilities to graph rules, the system can estimate how likely an attack is and how severe its impact could be.</a:t>
            </a:r>
          </a:p>
          <a:p>
            <a:pPr marL="342900" marR="0" lvl="0" indent="-3429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Quantitative risk assessments and Stochastic analysis of attacks.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20D54-D2DE-06CC-C513-4742E0B1DD79}"/>
              </a:ext>
            </a:extLst>
          </p:cNvPr>
          <p:cNvSpPr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lvl="0"/>
            <a:r>
              <a:rPr lang="en-GB"/>
              <a:t>nvl2 : 249025520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ethodology Pipeline">
            <a:extLst>
              <a:ext uri="{FF2B5EF4-FFF2-40B4-BE49-F238E27FC236}">
                <a16:creationId xmlns:a16="http://schemas.microsoft.com/office/drawing/2014/main" id="{81BF613E-4ACC-9CEF-973A-8D2F3CA4BC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580"/>
          <a:stretch>
            <a:fillRect/>
          </a:stretch>
        </p:blipFill>
        <p:spPr>
          <a:xfrm>
            <a:off x="120650" y="976628"/>
            <a:ext cx="11950700" cy="5881372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BBCC4E-D12E-C1FB-C273-DB0FB12613DF}"/>
              </a:ext>
            </a:extLst>
          </p:cNvPr>
          <p:cNvSpPr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 wrap="square" anchor="ctr">
            <a:normAutofit/>
          </a:bodyPr>
          <a:lstStyle/>
          <a:p>
            <a:pPr lvl="0">
              <a:spcAft>
                <a:spcPts val="600"/>
              </a:spcAft>
            </a:pPr>
            <a:r>
              <a:rPr lang="en-GB"/>
              <a:t>nvl2 : 249025520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4B5923-F2F1-F756-B64D-26ECE3D45489}"/>
              </a:ext>
            </a:extLst>
          </p:cNvPr>
          <p:cNvSpPr txBox="1"/>
          <p:nvPr/>
        </p:nvSpPr>
        <p:spPr>
          <a:xfrm>
            <a:off x="3978191" y="224474"/>
            <a:ext cx="4309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Methodology Pipeline</a:t>
            </a:r>
          </a:p>
        </p:txBody>
      </p:sp>
    </p:spTree>
    <p:extLst>
      <p:ext uri="{BB962C8B-B14F-4D97-AF65-F5344CB8AC3E}">
        <p14:creationId xmlns:p14="http://schemas.microsoft.com/office/powerpoint/2010/main" val="4025513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274C0-E7E0-31B7-4C03-9ED4E6713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C7BC6-8F83-4CD2-6BBB-0FE7FFD721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85156" y="549280"/>
            <a:ext cx="8421688" cy="1325559"/>
          </a:xfrm>
        </p:spPr>
        <p:txBody>
          <a:bodyPr/>
          <a:lstStyle/>
          <a:p>
            <a:pPr lvl="0" algn="l"/>
            <a:r>
              <a:rPr lang="en-GB" dirty="0"/>
              <a:t>Type of Graph Used in Modelling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321C92-662C-1A18-65CB-C44158126DCA}"/>
              </a:ext>
            </a:extLst>
          </p:cNvPr>
          <p:cNvSpPr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lvl="0"/>
            <a:r>
              <a:rPr lang="en-GB"/>
              <a:t>nvl2 : 249025520</a:t>
            </a:r>
          </a:p>
        </p:txBody>
      </p:sp>
      <p:pic>
        <p:nvPicPr>
          <p:cNvPr id="3" name="Picture 2" descr="A diagram of a email account&#10;&#10;AI-generated content may be incorrect.">
            <a:extLst>
              <a:ext uri="{FF2B5EF4-FFF2-40B4-BE49-F238E27FC236}">
                <a16:creationId xmlns:a16="http://schemas.microsoft.com/office/drawing/2014/main" id="{D1E3D991-0659-62A2-4396-035EC9AA5A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572" y="1874839"/>
            <a:ext cx="4506278" cy="35829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215658-48A1-551B-6A4F-B8C320904520}"/>
              </a:ext>
            </a:extLst>
          </p:cNvPr>
          <p:cNvSpPr txBox="1"/>
          <p:nvPr/>
        </p:nvSpPr>
        <p:spPr>
          <a:xfrm>
            <a:off x="4547212" y="5457769"/>
            <a:ext cx="3695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Attributed directed type multigraph</a:t>
            </a:r>
          </a:p>
        </p:txBody>
      </p:sp>
    </p:spTree>
    <p:extLst>
      <p:ext uri="{BB962C8B-B14F-4D97-AF65-F5344CB8AC3E}">
        <p14:creationId xmlns:p14="http://schemas.microsoft.com/office/powerpoint/2010/main" val="234918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D1AC5-9705-29A1-632D-1856DBF67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5FADCD-AFF8-55E7-1F23-6652DC6DC0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5075"/>
          <a:stretch>
            <a:fillRect/>
          </a:stretch>
        </p:blipFill>
        <p:spPr>
          <a:xfrm>
            <a:off x="120650" y="68263"/>
            <a:ext cx="11950700" cy="6721475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36FD71-8083-6721-FD97-AEB0F39A8655}"/>
              </a:ext>
            </a:extLst>
          </p:cNvPr>
          <p:cNvSpPr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lvl="0">
              <a:spcAft>
                <a:spcPts val="600"/>
              </a:spcAft>
            </a:pPr>
            <a:r>
              <a:rPr lang="en-GB"/>
              <a:t>nvl2 : 249025520</a:t>
            </a:r>
          </a:p>
        </p:txBody>
      </p:sp>
    </p:spTree>
    <p:extLst>
      <p:ext uri="{BB962C8B-B14F-4D97-AF65-F5344CB8AC3E}">
        <p14:creationId xmlns:p14="http://schemas.microsoft.com/office/powerpoint/2010/main" val="3494534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46536-404A-EAC8-0A28-C09CF103F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A5205-D40D-E64E-0568-BC0C2DCB2A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85156" y="549280"/>
            <a:ext cx="8421688" cy="1325559"/>
          </a:xfrm>
        </p:spPr>
        <p:txBody>
          <a:bodyPr/>
          <a:lstStyle/>
          <a:p>
            <a:pPr lvl="0" algn="l"/>
            <a:r>
              <a:rPr lang="en-GB" dirty="0"/>
              <a:t>Fundamental Concepts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B39A4-36C1-4BC4-BB66-AC38E0A45E00}"/>
              </a:ext>
            </a:extLst>
          </p:cNvPr>
          <p:cNvSpPr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lvl="0"/>
            <a:r>
              <a:rPr lang="en-GB"/>
              <a:t>nvl2 : 249025520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16420-3398-017F-C948-0BBCB85EF0BE}"/>
              </a:ext>
            </a:extLst>
          </p:cNvPr>
          <p:cNvSpPr txBox="1"/>
          <p:nvPr/>
        </p:nvSpPr>
        <p:spPr>
          <a:xfrm>
            <a:off x="1517650" y="1744276"/>
            <a:ext cx="9480550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SzPct val="100000"/>
              <a:buFont typeface="Courier New" pitchFamily="49"/>
              <a:buChar char="o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Modelling and Transformation [1]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SzPct val="100000"/>
              <a:buFont typeface="Courier New" pitchFamily="49"/>
              <a:buChar char="o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pc="15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Groove tutorials and terminologies [2]</a:t>
            </a:r>
          </a:p>
          <a:p>
            <a:pPr marL="342900" lvl="0" indent="-342900">
              <a:lnSpc>
                <a:spcPct val="150000"/>
              </a:lnSpc>
              <a:buSzPct val="100000"/>
              <a:buFont typeface="Courier New" pitchFamily="49"/>
              <a:buChar char="o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150" baseline="0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Quantitative risk assessment </a:t>
            </a:r>
          </a:p>
          <a:p>
            <a:pPr marL="342900" lvl="0" indent="-342900">
              <a:lnSpc>
                <a:spcPct val="150000"/>
              </a:lnSpc>
              <a:buSzPct val="100000"/>
              <a:buFont typeface="Courier New" pitchFamily="49"/>
              <a:buChar char="o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pc="15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Stochastic Analysis using CTMC.</a:t>
            </a:r>
            <a:endParaRPr lang="en-GB" sz="1800" b="0" i="0" u="none" strike="noStrike" kern="1200" cap="none" spc="150" baseline="0" dirty="0">
              <a:solidFill>
                <a:srgbClr val="000000"/>
              </a:solidFill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C37F1E-2C29-E8B4-DD25-63106F417A57}"/>
              </a:ext>
            </a:extLst>
          </p:cNvPr>
          <p:cNvSpPr txBox="1"/>
          <p:nvPr/>
        </p:nvSpPr>
        <p:spPr>
          <a:xfrm>
            <a:off x="717550" y="5439372"/>
            <a:ext cx="112255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[1] R. Heckel and G. </a:t>
            </a:r>
            <a:r>
              <a:rPr lang="en-GB" dirty="0" err="1"/>
              <a:t>Taentzer</a:t>
            </a:r>
            <a:r>
              <a:rPr lang="en-GB" dirty="0"/>
              <a:t>, Graph Transformation for Software Engineers. Springer, 2006.</a:t>
            </a:r>
          </a:p>
          <a:p>
            <a:r>
              <a:rPr lang="en-GB" dirty="0"/>
              <a:t>[2] User Manual for Groove Toolset, </a:t>
            </a:r>
            <a:r>
              <a:rPr lang="en-GB" dirty="0">
                <a:hlinkClick r:id="rId3"/>
              </a:rPr>
              <a:t>https://github.com/nl-utwente-groove/usermanual/blob/master/usermanual.pdf</a:t>
            </a:r>
            <a:endParaRPr lang="en-GB" dirty="0"/>
          </a:p>
          <a:p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1328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BF28-66AE-1838-8EF8-AA8F39B3C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40F35-BBE1-9D56-05E4-8C0AB1C111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85156" y="549280"/>
            <a:ext cx="8421688" cy="1325559"/>
          </a:xfrm>
        </p:spPr>
        <p:txBody>
          <a:bodyPr/>
          <a:lstStyle/>
          <a:p>
            <a:pPr lvl="0" algn="l"/>
            <a:r>
              <a:rPr lang="en-GB" dirty="0"/>
              <a:t>Example of Graph Transformation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A6CDB4-45D7-B542-E01B-E2F75F4FD53E}"/>
              </a:ext>
            </a:extLst>
          </p:cNvPr>
          <p:cNvSpPr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lvl="0"/>
            <a:r>
              <a:rPr lang="en-GB"/>
              <a:t>nvl2 : 249025520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C1F4D5-CEC1-DEA9-9BDE-D8951D3DE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888" y="1625907"/>
            <a:ext cx="5236401" cy="33572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798D7E-282E-0C06-7173-5E2D73DF54FC}"/>
              </a:ext>
            </a:extLst>
          </p:cNvPr>
          <p:cNvSpPr txBox="1"/>
          <p:nvPr/>
        </p:nvSpPr>
        <p:spPr>
          <a:xfrm>
            <a:off x="2380593" y="4983162"/>
            <a:ext cx="77198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From state transformations to rules: graph representation (LHS: left-hand side, RHS: right-hand side) [1]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4037A4-7439-5A3C-7203-E905F4ABD258}"/>
              </a:ext>
            </a:extLst>
          </p:cNvPr>
          <p:cNvSpPr txBox="1"/>
          <p:nvPr/>
        </p:nvSpPr>
        <p:spPr>
          <a:xfrm>
            <a:off x="746235" y="5752012"/>
            <a:ext cx="114457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[1] R. Heckel and G. </a:t>
            </a:r>
            <a:r>
              <a:rPr lang="en-GB" sz="1400" dirty="0" err="1"/>
              <a:t>Taentzer</a:t>
            </a:r>
            <a:r>
              <a:rPr lang="en-GB" sz="1400" dirty="0"/>
              <a:t>, Graph Transformation for Software Engineers. Springer, 2006.</a:t>
            </a:r>
          </a:p>
        </p:txBody>
      </p:sp>
    </p:spTree>
    <p:extLst>
      <p:ext uri="{BB962C8B-B14F-4D97-AF65-F5344CB8AC3E}">
        <p14:creationId xmlns:p14="http://schemas.microsoft.com/office/powerpoint/2010/main" val="564226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03A41-5ACF-338A-0503-82BD474C5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CED50-2D77-C7E8-D537-F22852077A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85156" y="549280"/>
            <a:ext cx="8421688" cy="1325559"/>
          </a:xfrm>
        </p:spPr>
        <p:txBody>
          <a:bodyPr/>
          <a:lstStyle/>
          <a:p>
            <a:pPr lvl="0" algn="l"/>
            <a:r>
              <a:rPr lang="en-GB" dirty="0"/>
              <a:t>Risk Specification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1622D-5291-E557-4D75-D570FD7FF138}"/>
              </a:ext>
            </a:extLst>
          </p:cNvPr>
          <p:cNvSpPr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lvl="0"/>
            <a:r>
              <a:rPr lang="en-GB"/>
              <a:t>nvl2 : 249025520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88D6B0-07E6-23BF-9BD7-3FD1C490A00D}"/>
                  </a:ext>
                </a:extLst>
              </p:cNvPr>
              <p:cNvSpPr txBox="1"/>
              <p:nvPr/>
            </p:nvSpPr>
            <p:spPr>
              <a:xfrm>
                <a:off x="1517650" y="1744276"/>
                <a:ext cx="9480550" cy="38302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A risk specification is a pair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𝑅𝑆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</a:t>
                </a:r>
              </a:p>
              <a:p>
                <a:endParaRPr lang="en-GB" dirty="0"/>
              </a:p>
              <a:p>
                <a:r>
                  <a:rPr lang="en-GB" dirty="0"/>
                  <a:t>where :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is a </a:t>
                </a:r>
                <a:r>
                  <a:rPr lang="en-GB" i="1" dirty="0"/>
                  <a:t>type graph</a:t>
                </a:r>
                <a:r>
                  <a:rPr lang="en-GB" dirty="0"/>
                  <a:t> (schema) as above, constraining all business graphs,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,……,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dirty="0"/>
                  <a:t> is a finite set of </a:t>
                </a:r>
                <a:r>
                  <a:rPr lang="en-GB" b="1" dirty="0"/>
                  <a:t>risk rules</a:t>
                </a:r>
                <a:r>
                  <a:rPr lang="en-GB" dirty="0"/>
                  <a:t>, each	</a:t>
                </a:r>
              </a:p>
              <a:p>
                <a:r>
                  <a:rPr lang="en-GB" dirty="0"/>
                  <a:t> </a:t>
                </a:r>
              </a:p>
              <a:p>
                <a:r>
                  <a:rPr lang="en-GB" dirty="0"/>
                  <a:t>with: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, {</m:t>
                      </m:r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endChr m:val="}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d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 </a:t>
                </a:r>
              </a:p>
              <a:p>
                <a:pPr lvl="0"/>
                <a:r>
                  <a:rPr lang="en-GB" b="1" dirty="0"/>
                  <a:t>Left-hand side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GB" dirty="0"/>
                  <a:t> ​: a typed, attributed graph describing a </a:t>
                </a:r>
                <a:r>
                  <a:rPr lang="en-GB" i="1" dirty="0"/>
                  <a:t>vulnerability pattern</a:t>
                </a:r>
                <a:r>
                  <a:rPr lang="en-GB" dirty="0"/>
                  <a:t>;</a:t>
                </a:r>
              </a:p>
              <a:p>
                <a:pPr lvl="0"/>
                <a:r>
                  <a:rPr lang="en-GB" b="1" dirty="0"/>
                  <a:t>Attack rate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GB" dirty="0"/>
                  <a:t>&gt; 0 :  the rate parameter of an exponential distribution governing how often an </a:t>
                </a:r>
                <a:r>
                  <a:rPr lang="en-GB" i="1" dirty="0"/>
                  <a:t>attack</a:t>
                </a:r>
                <a:r>
                  <a:rPr lang="en-GB" dirty="0"/>
                  <a:t> may occur once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GB" dirty="0"/>
                  <a:t>​ is present.</a:t>
                </a:r>
              </a:p>
              <a:p>
                <a:r>
                  <a:rPr lang="en-GB" b="1" dirty="0"/>
                  <a:t>Outcomes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GB" dirty="0"/>
                  <a:t>: a discrete distribution over </a:t>
                </a:r>
                <a:r>
                  <a:rPr lang="en-GB" i="1" dirty="0"/>
                  <a:t>right-hand side</a:t>
                </a:r>
                <a:r>
                  <a:rPr lang="en-GB" dirty="0"/>
                  <a:t> graphs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  <a:endParaRPr lang="en-GB" b="0" i="0" u="none" strike="noStrike" kern="1200" cap="none" spc="150" baseline="0" dirty="0">
                  <a:solidFill>
                    <a:srgbClr val="000000"/>
                  </a:solidFill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88D6B0-07E6-23BF-9BD7-3FD1C490A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650" y="1744276"/>
                <a:ext cx="9480550" cy="3830279"/>
              </a:xfrm>
              <a:prstGeom prst="rect">
                <a:avLst/>
              </a:prstGeom>
              <a:blipFill>
                <a:blip r:embed="rId3"/>
                <a:stretch>
                  <a:fillRect l="-579" t="-796" r="-386" b="-12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861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3EE51-80F2-8F6F-3D25-B100E23F0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594D51-12E1-6533-BC4C-3B5AC2675B4F}"/>
              </a:ext>
            </a:extLst>
          </p:cNvPr>
          <p:cNvSpPr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lvl="0">
              <a:spcAft>
                <a:spcPts val="600"/>
              </a:spcAft>
            </a:pPr>
            <a:r>
              <a:rPr lang="en-GB"/>
              <a:t>nvl2 : 249025520</a:t>
            </a:r>
          </a:p>
        </p:txBody>
      </p:sp>
      <p:pic>
        <p:nvPicPr>
          <p:cNvPr id="2" name="Picture 1" descr="A diagram of a server&#10;&#10;AI-generated content may be incorrect.">
            <a:extLst>
              <a:ext uri="{FF2B5EF4-FFF2-40B4-BE49-F238E27FC236}">
                <a16:creationId xmlns:a16="http://schemas.microsoft.com/office/drawing/2014/main" id="{4139F97B-3990-77F6-EFA8-5B33D38AB2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612" y="1666061"/>
            <a:ext cx="1988820" cy="4177846"/>
          </a:xfrm>
          <a:prstGeom prst="rect">
            <a:avLst/>
          </a:prstGeom>
        </p:spPr>
      </p:pic>
      <p:pic>
        <p:nvPicPr>
          <p:cNvPr id="5" name="Picture 4" descr="A diagram of a server&#10;&#10;AI-generated content may be incorrect.">
            <a:extLst>
              <a:ext uri="{FF2B5EF4-FFF2-40B4-BE49-F238E27FC236}">
                <a16:creationId xmlns:a16="http://schemas.microsoft.com/office/drawing/2014/main" id="{8A5B07EA-C4EA-8050-813F-305FD87CDB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650" y="1830458"/>
            <a:ext cx="5927595" cy="39411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068C2A-CF1D-F203-539B-D3F9A89CF1CC}"/>
              </a:ext>
            </a:extLst>
          </p:cNvPr>
          <p:cNvSpPr txBox="1"/>
          <p:nvPr/>
        </p:nvSpPr>
        <p:spPr>
          <a:xfrm>
            <a:off x="2040495" y="5892660"/>
            <a:ext cx="1496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Type Graph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07005-9969-DFED-65B2-32068328AB13}"/>
              </a:ext>
            </a:extLst>
          </p:cNvPr>
          <p:cNvSpPr txBox="1"/>
          <p:nvPr/>
        </p:nvSpPr>
        <p:spPr>
          <a:xfrm>
            <a:off x="6379779" y="5879302"/>
            <a:ext cx="4689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Host Graph (Business Graph) or Instance Graph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371E395-7F9D-4211-8965-A3AF6C1AC4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51612" y="212516"/>
            <a:ext cx="8421688" cy="1325559"/>
          </a:xfrm>
        </p:spPr>
        <p:txBody>
          <a:bodyPr/>
          <a:lstStyle/>
          <a:p>
            <a:pPr lvl="0" algn="ctr"/>
            <a:r>
              <a:rPr lang="en-GB" dirty="0"/>
              <a:t>Type graph and Instance Graph</a:t>
            </a:r>
          </a:p>
        </p:txBody>
      </p:sp>
    </p:spTree>
    <p:extLst>
      <p:ext uri="{BB962C8B-B14F-4D97-AF65-F5344CB8AC3E}">
        <p14:creationId xmlns:p14="http://schemas.microsoft.com/office/powerpoint/2010/main" val="3978980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6A68F-D576-2012-2058-22F64F2FD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B1DD3-8A59-7B8C-7E56-0043D6E32B42}"/>
              </a:ext>
            </a:extLst>
          </p:cNvPr>
          <p:cNvSpPr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lvl="0">
              <a:spcAft>
                <a:spcPts val="600"/>
              </a:spcAft>
            </a:pPr>
            <a:r>
              <a:rPr lang="en-GB"/>
              <a:t>nvl2 : 249025520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25F49B8-9E59-50FC-9A71-FC18B5ED40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51612" y="212516"/>
            <a:ext cx="8421688" cy="1325559"/>
          </a:xfrm>
        </p:spPr>
        <p:txBody>
          <a:bodyPr/>
          <a:lstStyle/>
          <a:p>
            <a:pPr lvl="0" algn="ctr"/>
            <a:r>
              <a:rPr lang="en-GB" dirty="0"/>
              <a:t>Example of Implementation</a:t>
            </a:r>
          </a:p>
        </p:txBody>
      </p:sp>
      <p:pic>
        <p:nvPicPr>
          <p:cNvPr id="2056" name="Picture 1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95ADB7D2-4077-59AD-EB37-A0D733C3F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075" y="1375314"/>
            <a:ext cx="1431925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 diagram of a message&#10;&#10;AI-generated content may be incorrect.">
            <a:extLst>
              <a:ext uri="{FF2B5EF4-FFF2-40B4-BE49-F238E27FC236}">
                <a16:creationId xmlns:a16="http://schemas.microsoft.com/office/drawing/2014/main" id="{76A68866-B2D4-8C9E-CFC3-FDD4F2CB0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43" y="4133085"/>
            <a:ext cx="2293938" cy="1433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 diagram of a computer security system&#10;&#10;AI-generated content may be incorrect.">
            <a:extLst>
              <a:ext uri="{FF2B5EF4-FFF2-40B4-BE49-F238E27FC236}">
                <a16:creationId xmlns:a16="http://schemas.microsoft.com/office/drawing/2014/main" id="{B53AA9A6-57D8-9F7B-6E1F-24CCFDFAE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5906" y="3991797"/>
            <a:ext cx="2225675" cy="157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BD3A2B-459F-1766-AC96-08381C1D2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77" y="1612318"/>
            <a:ext cx="2811463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1" descr="A diagram of a security account&#10;&#10;AI-generated content may be incorrect.">
            <a:extLst>
              <a:ext uri="{FF2B5EF4-FFF2-40B4-BE49-F238E27FC236}">
                <a16:creationId xmlns:a16="http://schemas.microsoft.com/office/drawing/2014/main" id="{4CEC818A-DBC6-3116-BFD2-91F0C9941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7" y="3979863"/>
            <a:ext cx="3200400" cy="191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1">
            <a:extLst>
              <a:ext uri="{FF2B5EF4-FFF2-40B4-BE49-F238E27FC236}">
                <a16:creationId xmlns:a16="http://schemas.microsoft.com/office/drawing/2014/main" id="{F0755E9B-674A-CF11-8160-8E3F379CA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165" y="147975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90AD09-5B6D-F216-0F98-AB7B27608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165" y="193695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266BF8-4224-0CB4-09CC-F200E10DB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165" y="193695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8010AFD8-FEE0-2BF1-3133-90D1824BC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165" y="239415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D5B9B70A-E0C4-AF5D-9170-ACA81DFD7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165" y="285135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588943-D645-B213-CA23-8BCAF9A08D55}"/>
              </a:ext>
            </a:extLst>
          </p:cNvPr>
          <p:cNvSpPr txBox="1"/>
          <p:nvPr/>
        </p:nvSpPr>
        <p:spPr>
          <a:xfrm>
            <a:off x="1253366" y="2927367"/>
            <a:ext cx="1431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Instance Graph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2B78D8-0515-035B-5A77-B9918AE237C0}"/>
              </a:ext>
            </a:extLst>
          </p:cNvPr>
          <p:cNvSpPr txBox="1"/>
          <p:nvPr/>
        </p:nvSpPr>
        <p:spPr>
          <a:xfrm>
            <a:off x="3876954" y="3131901"/>
            <a:ext cx="33922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LHS : vulnerability pattern (preconditions)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E5EED1-5086-7D56-4CA7-6B28D868CB1D}"/>
              </a:ext>
            </a:extLst>
          </p:cNvPr>
          <p:cNvSpPr txBox="1"/>
          <p:nvPr/>
        </p:nvSpPr>
        <p:spPr>
          <a:xfrm>
            <a:off x="396772" y="5787921"/>
            <a:ext cx="27982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Output 1 : user clicked the link and account is compromised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330FD2-D43B-BE11-4C56-425F47083B03}"/>
              </a:ext>
            </a:extLst>
          </p:cNvPr>
          <p:cNvSpPr txBox="1"/>
          <p:nvPr/>
        </p:nvSpPr>
        <p:spPr>
          <a:xfrm>
            <a:off x="3425309" y="3504740"/>
            <a:ext cx="39807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/>
              <a:t>RHS : outcomes (post conditions)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5C439C-3D1B-C49E-6528-0046708134B6}"/>
              </a:ext>
            </a:extLst>
          </p:cNvPr>
          <p:cNvSpPr txBox="1"/>
          <p:nvPr/>
        </p:nvSpPr>
        <p:spPr>
          <a:xfrm>
            <a:off x="3644468" y="5917149"/>
            <a:ext cx="3980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Output 2 : user clicked the link and a security alert </a:t>
            </a:r>
          </a:p>
          <a:p>
            <a:r>
              <a:rPr lang="en-GB" sz="1400" dirty="0"/>
              <a:t>Is triggered, but account is not compromised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8CC0AE-D8ED-B3B6-EE5E-E447A46D29BD}"/>
              </a:ext>
            </a:extLst>
          </p:cNvPr>
          <p:cNvSpPr txBox="1"/>
          <p:nvPr/>
        </p:nvSpPr>
        <p:spPr>
          <a:xfrm>
            <a:off x="7851227" y="5783493"/>
            <a:ext cx="3053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Output 3 : User ignored the mail, no effects on instance graph </a:t>
            </a:r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815DB303-84D9-DBE9-6B9F-3B8A2FEE95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236124"/>
              </p:ext>
            </p:extLst>
          </p:nvPr>
        </p:nvGraphicFramePr>
        <p:xfrm>
          <a:off x="7269165" y="795815"/>
          <a:ext cx="4699876" cy="29790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2300792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79D5D-6E87-446C-D32D-BE285A8E2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6A49D3E-4F4A-4443-07CE-03BB96F1B5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0560252"/>
                  </p:ext>
                </p:extLst>
              </p:nvPr>
            </p:nvGraphicFramePr>
            <p:xfrm>
              <a:off x="115614" y="63062"/>
              <a:ext cx="11908221" cy="6775093"/>
            </p:xfrm>
            <a:graphic>
              <a:graphicData uri="http://schemas.openxmlformats.org/drawingml/2006/table">
                <a:tbl>
                  <a:tblPr/>
                  <a:tblGrid>
                    <a:gridCol w="3969407">
                      <a:extLst>
                        <a:ext uri="{9D8B030D-6E8A-4147-A177-3AD203B41FA5}">
                          <a16:colId xmlns:a16="http://schemas.microsoft.com/office/drawing/2014/main" val="2245998615"/>
                        </a:ext>
                      </a:extLst>
                    </a:gridCol>
                    <a:gridCol w="3969407">
                      <a:extLst>
                        <a:ext uri="{9D8B030D-6E8A-4147-A177-3AD203B41FA5}">
                          <a16:colId xmlns:a16="http://schemas.microsoft.com/office/drawing/2014/main" val="3350273622"/>
                        </a:ext>
                      </a:extLst>
                    </a:gridCol>
                    <a:gridCol w="3969407">
                      <a:extLst>
                        <a:ext uri="{9D8B030D-6E8A-4147-A177-3AD203B41FA5}">
                          <a16:colId xmlns:a16="http://schemas.microsoft.com/office/drawing/2014/main" val="2191018412"/>
                        </a:ext>
                      </a:extLst>
                    </a:gridCol>
                  </a:tblGrid>
                  <a:tr h="37128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Aspect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1" dirty="0"/>
                            <a:t>Quantitative Analysis (Independent)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1" dirty="0"/>
                            <a:t>Stochastic / Structured Analysis (Dependent)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34376491"/>
                      </a:ext>
                    </a:extLst>
                  </a:tr>
                  <a:tr h="5304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/>
                            <a:t>Purpose</a:t>
                          </a:r>
                          <a:endParaRPr lang="en-GB" sz="120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Estimate expected losses and probabilities for independent attacks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Model system behavior including dependencies, sequences, and conditional events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4835664"/>
                      </a:ext>
                    </a:extLst>
                  </a:tr>
                  <a:tr h="5304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/>
                            <a:t>Attack Modeling</a:t>
                          </a:r>
                          <a:endParaRPr lang="en-GB" sz="120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Each attack is independent, treated as a Poisson process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Attacks are conditional on preconditions or prior events; dependencies included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33964095"/>
                      </a:ext>
                    </a:extLst>
                  </a:tr>
                  <a:tr h="68952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/>
                            <a:t>Mathematical Basis</a:t>
                          </a:r>
                          <a:endParaRPr lang="en-GB" sz="120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Poisson process, expected cost, ALE, probability of ≥1 occurrence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Continuous-time Markov chains (CTMC), Markov decision processes (MDP), or stochastic timed automata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04356902"/>
                      </a:ext>
                    </a:extLst>
                  </a:tr>
                  <a:tr h="5304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/>
                            <a:t>Event Count</a:t>
                          </a:r>
                          <a:endParaRPr lang="en-GB" sz="120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Random variable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2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  <m:r>
                                <a:rPr lang="ar-AE" sz="1200" i="0"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r>
                                <m:rPr>
                                  <m:nor/>
                                </m:rPr>
                                <a:rPr lang="en-GB" sz="1200" b="0" i="1">
                                  <a:latin typeface="Cambria Math" panose="02040503050406030204" pitchFamily="18" charset="0"/>
                                </a:rPr>
                                <m:t>Poisson</m:t>
                              </m:r>
                              <m:d>
                                <m:dPr>
                                  <m:ctrlPr>
                                    <a:rPr lang="ar-AE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sz="1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1200" b="0" i="0">
                                          <a:latin typeface="Cambria Math" panose="02040503050406030204" pitchFamily="18" charset="0"/>
                                        </a:rPr>
                                        <m:t>Λ</m:t>
                                      </m:r>
                                    </m:e>
                                    <m:sub>
                                      <m:r>
                                        <a:rPr lang="ar-AE" sz="1200" b="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r>
                                    <a:rPr lang="ar-AE" sz="1200" b="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oMath>
                          </a14:m>
                          <a:endParaRPr lang="ar-AE" sz="1200" dirty="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Event sequences follow state transitions with probabilities/rates; not necessarily Poisson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95472165"/>
                      </a:ext>
                    </a:extLst>
                  </a:tr>
                  <a:tr h="5304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 dirty="0"/>
                            <a:t>Expected Loss</a:t>
                          </a:r>
                          <a:endParaRPr lang="en-GB" sz="1200" dirty="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12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ar-AE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200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ar-AE" sz="1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ar-AE" sz="1200" i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ar-AE" sz="12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ar-AE" sz="12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ar-AE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20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ar-AE" sz="1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r>
                                  <a:rPr lang="ar-AE" sz="1200" i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ar-AE" sz="12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ar-AE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2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ar-AE" sz="1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ar-AE" sz="1200" i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ar-AE" sz="12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ar-AE" sz="1200" dirty="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Computed via model checking or numerical solutions of the stochastic process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90934454"/>
                      </a:ext>
                    </a:extLst>
                  </a:tr>
                  <a:tr h="5304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/>
                            <a:t>Variance / Uncertainty</a:t>
                          </a:r>
                          <a:endParaRPr lang="en-GB" sz="120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Variance =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2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200"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b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ar-AE" sz="1200" i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ar-AE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ar-AE" sz="12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ar-AE" sz="12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  <m:sup>
                                      <m:r>
                                        <a:rPr lang="ar-AE" sz="12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oMath>
                          </a14:m>
                          <a:r>
                            <a:rPr lang="en-GB" sz="1200"/>
                            <a:t>per attack; assumes independence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Variance computed from full stochastic model; captures correlation between events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99966800"/>
                      </a:ext>
                    </a:extLst>
                  </a:tr>
                  <a:tr h="4102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/>
                            <a:t>Follow-up / Dependent Attacks</a:t>
                          </a:r>
                          <a:endParaRPr lang="en-GB" sz="120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Ignored; only independent attacks considered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Explicitly modeled; rate of follow-up depends on prior attack success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4084823"/>
                      </a:ext>
                    </a:extLst>
                  </a:tr>
                  <a:tr h="5304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/>
                            <a:t>Probability of Occurrence</a:t>
                          </a:r>
                          <a:endParaRPr lang="en-GB" sz="120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12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ar-AE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200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ar-AE" sz="1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ar-AE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sz="12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  <m:r>
                                      <a:rPr lang="ar-AE" sz="1200" i="0">
                                        <a:latin typeface="Cambria Math" panose="02040503050406030204" pitchFamily="18" charset="0"/>
                                      </a:rPr>
                                      <m:t>≥</m:t>
                                    </m:r>
                                    <m:r>
                                      <a:rPr lang="ar-AE" sz="12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ar-AE" sz="12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12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 sz="12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ar-AE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ar-AE" sz="12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ar-AE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20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ar-AE" sz="1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  <m:r>
                                      <a:rPr lang="ar-AE" sz="12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ar-AE" sz="1200" dirty="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Probability computed from state-space exploration or numerical solution of the stochastic model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9999773"/>
                      </a:ext>
                    </a:extLst>
                  </a:tr>
                  <a:tr h="5304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/>
                            <a:t>Time Horizon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endParaRPr lang="en-GB" sz="120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Linear scaling for expectation and ALE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Time horizon affects state-space exploration and time-bounded properties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96277488"/>
                      </a:ext>
                    </a:extLst>
                  </a:tr>
                  <a:tr h="5304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/>
                            <a:t>Complexity</a:t>
                          </a:r>
                          <a:endParaRPr lang="en-GB" sz="120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Simple, analytical, closed-form formulas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Computationally intensive, may require numerical solvers, simulations, or model checking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1637385"/>
                      </a:ext>
                    </a:extLst>
                  </a:tr>
                  <a:tr h="68952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 dirty="0"/>
                            <a:t>Output / Metrics</a:t>
                          </a:r>
                          <a:endParaRPr lang="en-GB" sz="1200" dirty="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ALE per year, expected loss, probability of occurrence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Probabilities of sequences, expected cumulative cost, optimal schedules, long-run reward, conditional probabilities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6283568"/>
                      </a:ext>
                    </a:extLst>
                  </a:tr>
                  <a:tr h="37128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/>
                            <a:t>Tool Example</a:t>
                          </a:r>
                          <a:endParaRPr lang="en-GB" sz="120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Spreadsheet calculations, simple Poisson formulas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Modest Toolset, PRISM, or other probabilistic model checkers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319414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6A49D3E-4F4A-4443-07CE-03BB96F1B5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0560252"/>
                  </p:ext>
                </p:extLst>
              </p:nvPr>
            </p:nvGraphicFramePr>
            <p:xfrm>
              <a:off x="115614" y="63062"/>
              <a:ext cx="11908221" cy="6775093"/>
            </p:xfrm>
            <a:graphic>
              <a:graphicData uri="http://schemas.openxmlformats.org/drawingml/2006/table">
                <a:tbl>
                  <a:tblPr/>
                  <a:tblGrid>
                    <a:gridCol w="3969407">
                      <a:extLst>
                        <a:ext uri="{9D8B030D-6E8A-4147-A177-3AD203B41FA5}">
                          <a16:colId xmlns:a16="http://schemas.microsoft.com/office/drawing/2014/main" val="2245998615"/>
                        </a:ext>
                      </a:extLst>
                    </a:gridCol>
                    <a:gridCol w="3969407">
                      <a:extLst>
                        <a:ext uri="{9D8B030D-6E8A-4147-A177-3AD203B41FA5}">
                          <a16:colId xmlns:a16="http://schemas.microsoft.com/office/drawing/2014/main" val="3350273622"/>
                        </a:ext>
                      </a:extLst>
                    </a:gridCol>
                    <a:gridCol w="3969407">
                      <a:extLst>
                        <a:ext uri="{9D8B030D-6E8A-4147-A177-3AD203B41FA5}">
                          <a16:colId xmlns:a16="http://schemas.microsoft.com/office/drawing/2014/main" val="2191018412"/>
                        </a:ext>
                      </a:extLst>
                    </a:gridCol>
                  </a:tblGrid>
                  <a:tr h="37128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Aspect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1" dirty="0"/>
                            <a:t>Quantitative Analysis (Independent)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1" dirty="0"/>
                            <a:t>Stochastic / Structured Analysis (Dependent)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34376491"/>
                      </a:ext>
                    </a:extLst>
                  </a:tr>
                  <a:tr h="5304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/>
                            <a:t>Purpose</a:t>
                          </a:r>
                          <a:endParaRPr lang="en-GB" sz="120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Estimate expected losses and probabilities for independent attacks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Model system behavior including dependencies, sequences, and conditional events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4835664"/>
                      </a:ext>
                    </a:extLst>
                  </a:tr>
                  <a:tr h="5304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/>
                            <a:t>Attack Modeling</a:t>
                          </a:r>
                          <a:endParaRPr lang="en-GB" sz="120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Each attack is independent, treated as a Poisson process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Attacks are conditional on preconditions or prior events; dependencies included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33964095"/>
                      </a:ext>
                    </a:extLst>
                  </a:tr>
                  <a:tr h="68952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/>
                            <a:t>Mathematical Basis</a:t>
                          </a:r>
                          <a:endParaRPr lang="en-GB" sz="120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Poisson process, expected cost, ALE, probability of ≥1 occurrence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Continuous-time Markov chains (CTMC), Markov decision processes (MDP), or stochastic timed automata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04356902"/>
                      </a:ext>
                    </a:extLst>
                  </a:tr>
                  <a:tr h="5304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/>
                            <a:t>Event Count</a:t>
                          </a:r>
                          <a:endParaRPr lang="en-GB" sz="120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100154" t="-400000" r="-100154" b="-778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Event sequences follow state transitions with probabilities/rates; not necessarily Poisson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95472165"/>
                      </a:ext>
                    </a:extLst>
                  </a:tr>
                  <a:tr h="5304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 dirty="0"/>
                            <a:t>Expected Loss</a:t>
                          </a:r>
                          <a:endParaRPr lang="en-GB" sz="1200" dirty="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100154" t="-500000" r="-100154" b="-678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Computed via model checking or numerical solutions of the stochastic process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90934454"/>
                      </a:ext>
                    </a:extLst>
                  </a:tr>
                  <a:tr h="5304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/>
                            <a:t>Variance / Uncertainty</a:t>
                          </a:r>
                          <a:endParaRPr lang="en-GB" sz="120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100154" t="-600000" r="-100154" b="-578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Variance computed from full stochastic model; captures correlation between events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99966800"/>
                      </a:ext>
                    </a:extLst>
                  </a:tr>
                  <a:tr h="4102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/>
                            <a:t>Follow-up / Dependent Attacks</a:t>
                          </a:r>
                          <a:endParaRPr lang="en-GB" sz="120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Ignored; only independent attacks considered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Explicitly modeled; rate of follow-up depends on prior attack success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4084823"/>
                      </a:ext>
                    </a:extLst>
                  </a:tr>
                  <a:tr h="5304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/>
                            <a:t>Probability of Occurrence</a:t>
                          </a:r>
                          <a:endParaRPr lang="en-GB" sz="120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100154" t="-778161" r="-100154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Probability computed from state-space exploration or numerical solution of the stochastic model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9999773"/>
                      </a:ext>
                    </a:extLst>
                  </a:tr>
                  <a:tr h="5304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878161" r="-19984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Linear scaling for expectation and ALE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Time horizon affects state-space exploration and time-bounded properties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96277488"/>
                      </a:ext>
                    </a:extLst>
                  </a:tr>
                  <a:tr h="5304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/>
                            <a:t>Complexity</a:t>
                          </a:r>
                          <a:endParaRPr lang="en-GB" sz="120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Simple, analytical, closed-form formulas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Computationally intensive, may require numerical solvers, simulations, or model checking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1637385"/>
                      </a:ext>
                    </a:extLst>
                  </a:tr>
                  <a:tr h="68952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 dirty="0"/>
                            <a:t>Output / Metrics</a:t>
                          </a:r>
                          <a:endParaRPr lang="en-GB" sz="1200" dirty="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ALE per year, expected loss, probability of occurrence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Probabilities of sequences, expected cumulative cost, optimal schedules, long-run reward, conditional probabilities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6283568"/>
                      </a:ext>
                    </a:extLst>
                  </a:tr>
                  <a:tr h="37128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/>
                            <a:t>Tool Example</a:t>
                          </a:r>
                          <a:endParaRPr lang="en-GB" sz="1200"/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/>
                            <a:t>Spreadsheet calculations, simple Poisson formulas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Modest Toolset, PRISM, or other probabilistic model checkers</a:t>
                          </a:r>
                        </a:p>
                      </a:txBody>
                      <a:tcPr marL="34263" marR="34263" marT="17131" marB="1713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319414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0195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D8592-CF16-C6B2-60F0-65250E57E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DE7-7E21-6C33-8660-91EC957989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85156" y="549280"/>
            <a:ext cx="9341644" cy="694496"/>
          </a:xfrm>
        </p:spPr>
        <p:txBody>
          <a:bodyPr>
            <a:normAutofit fontScale="90000"/>
          </a:bodyPr>
          <a:lstStyle/>
          <a:p>
            <a:pPr lvl="0" algn="l"/>
            <a:br>
              <a:rPr lang="en-GB" dirty="0"/>
            </a:br>
            <a:br>
              <a:rPr lang="en-GB" dirty="0"/>
            </a:br>
            <a:r>
              <a:rPr lang="en-GB" dirty="0"/>
              <a:t>Quantitative risk Estimation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367AB2-2857-45A8-2DE8-577EFA9BF493}"/>
              </a:ext>
            </a:extLst>
          </p:cNvPr>
          <p:cNvSpPr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lvl="0"/>
            <a:r>
              <a:rPr lang="en-GB"/>
              <a:t>nvl2 : 249025520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4E4AD4-EEEC-9782-E426-12C744543EBE}"/>
              </a:ext>
            </a:extLst>
          </p:cNvPr>
          <p:cNvSpPr txBox="1"/>
          <p:nvPr/>
        </p:nvSpPr>
        <p:spPr>
          <a:xfrm>
            <a:off x="2216587" y="2413337"/>
            <a:ext cx="94805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We assume attacks happen randomly but independently.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The number of attacks per year is described by a Poisson process.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We calculate the average cost of every attack.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Multiplying the attack rate by this cost gives the expected yearly loss.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We can also compute the probability of at least one attack within a given time.</a:t>
            </a:r>
          </a:p>
          <a:p>
            <a:r>
              <a:rPr lang="en-GB" dirty="0"/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1B3DC-1511-3C3B-50C9-FCF4189CC263}"/>
              </a:ext>
            </a:extLst>
          </p:cNvPr>
          <p:cNvSpPr txBox="1"/>
          <p:nvPr/>
        </p:nvSpPr>
        <p:spPr>
          <a:xfrm>
            <a:off x="2953544" y="1243776"/>
            <a:ext cx="7353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( Structure Free analysis only for attacks that occur independently)</a:t>
            </a:r>
          </a:p>
        </p:txBody>
      </p:sp>
    </p:spTree>
    <p:extLst>
      <p:ext uri="{BB962C8B-B14F-4D97-AF65-F5344CB8AC3E}">
        <p14:creationId xmlns:p14="http://schemas.microsoft.com/office/powerpoint/2010/main" val="49640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3E03F-D881-B8FF-D125-4AFBC0C8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8D28-880A-F478-1DBF-D953D8E18B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85156" y="549280"/>
            <a:ext cx="9341644" cy="694496"/>
          </a:xfrm>
        </p:spPr>
        <p:txBody>
          <a:bodyPr>
            <a:normAutofit fontScale="90000"/>
          </a:bodyPr>
          <a:lstStyle/>
          <a:p>
            <a:pPr lvl="0" algn="l"/>
            <a:br>
              <a:rPr lang="en-GB" dirty="0"/>
            </a:br>
            <a:br>
              <a:rPr lang="en-GB" dirty="0"/>
            </a:br>
            <a:r>
              <a:rPr lang="en-GB" dirty="0"/>
              <a:t>Quantitative risk Estimation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AE8F7B-4AB2-ABA9-8502-11B64D3CB05E}"/>
              </a:ext>
            </a:extLst>
          </p:cNvPr>
          <p:cNvSpPr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lvl="0"/>
            <a:r>
              <a:rPr lang="en-GB"/>
              <a:t>nvl2 : 249025520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6ABCD-5D71-F9F9-56EE-6D2C9DB37B0D}"/>
              </a:ext>
            </a:extLst>
          </p:cNvPr>
          <p:cNvSpPr txBox="1"/>
          <p:nvPr/>
        </p:nvSpPr>
        <p:spPr>
          <a:xfrm>
            <a:off x="2216587" y="2413337"/>
            <a:ext cx="9480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CDC9E1-31B9-DA34-9D72-BDD9403FBECD}"/>
              </a:ext>
            </a:extLst>
          </p:cNvPr>
          <p:cNvSpPr txBox="1"/>
          <p:nvPr/>
        </p:nvSpPr>
        <p:spPr>
          <a:xfrm>
            <a:off x="2953544" y="1243776"/>
            <a:ext cx="7353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( Structure Free analysis only for attacks that occur independently)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5A047B-1B19-578D-BF60-7B4A9EF26906}"/>
                  </a:ext>
                </a:extLst>
              </p:cNvPr>
              <p:cNvSpPr txBox="1"/>
              <p:nvPr/>
            </p:nvSpPr>
            <p:spPr>
              <a:xfrm>
                <a:off x="835574" y="1613108"/>
                <a:ext cx="11098924" cy="5132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sz="1600" dirty="0"/>
                  <a:t>When we </a:t>
                </a:r>
                <a:r>
                  <a:rPr lang="en-GB" sz="1600" dirty="0" err="1"/>
                  <a:t>analyze</a:t>
                </a:r>
                <a:r>
                  <a:rPr lang="en-GB" sz="1600" dirty="0"/>
                  <a:t> </a:t>
                </a:r>
                <a:r>
                  <a:rPr lang="en-GB" sz="1600" b="1" dirty="0"/>
                  <a:t>independent attacks</a:t>
                </a:r>
                <a:r>
                  <a:rPr lang="en-GB" sz="1600" dirty="0"/>
                  <a:t>, we can model them using a </a:t>
                </a:r>
                <a:r>
                  <a:rPr lang="en-GB" sz="1600" b="1" dirty="0"/>
                  <a:t>Poisson process</a:t>
                </a:r>
                <a:r>
                  <a:rPr lang="en-GB" sz="1600" dirty="0"/>
                  <a:t>. This is useful because it gives us closed-form formulas for risk estimation.</a:t>
                </a:r>
              </a:p>
              <a:p>
                <a:pPr>
                  <a:buNone/>
                </a:pPr>
                <a:endParaRPr lang="en-GB" sz="1600" dirty="0"/>
              </a:p>
              <a:p>
                <a:pPr>
                  <a:buFont typeface="+mj-lt"/>
                  <a:buAutoNum type="arabicPeriod"/>
                </a:pPr>
                <a:r>
                  <a:rPr lang="en-GB" sz="1600" b="1" dirty="0"/>
                  <a:t>  Attack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GB" sz="1600" b="1" dirty="0"/>
                  <a:t>):</a:t>
                </a:r>
                <a:br>
                  <a:rPr lang="en-GB" sz="1600" dirty="0"/>
                </a:br>
                <a:r>
                  <a:rPr lang="en-GB" sz="1600" dirty="0"/>
                  <a:t>Each attack rule has a rate, meaning how many times per year the attack is expected to occur.</a:t>
                </a:r>
              </a:p>
              <a:p>
                <a:pPr>
                  <a:buFont typeface="+mj-lt"/>
                  <a:buAutoNum type="arabicPeriod"/>
                </a:pPr>
                <a:r>
                  <a:rPr lang="en-GB" sz="1600" b="1" dirty="0"/>
                  <a:t> Expected cost per attack (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600" b="1" dirty="0"/>
                  <a:t>):</a:t>
                </a:r>
                <a:br>
                  <a:rPr lang="en-GB" sz="1600" dirty="0"/>
                </a:br>
                <a:r>
                  <a:rPr lang="en-GB" sz="1600" dirty="0"/>
                  <a:t>Every attack may have different possible outcomes. Each outcome has a probability and a cost. The expected cost is simply the weighted average: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ar-AE" sz="16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</m:d>
                      <m:r>
                        <a:rPr lang="ar-AE" sz="1600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nor/>
                        </m:rPr>
                        <a:rPr lang="en-GB" sz="1600" b="0" i="1">
                          <a:latin typeface="Cambria Math" panose="02040503050406030204" pitchFamily="18" charset="0"/>
                        </a:rPr>
                        <m:t>cost</m:t>
                      </m:r>
                      <m:d>
                        <m:dPr>
                          <m:ctrlPr>
                            <a:rPr lang="ar-AE" sz="16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b="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</m:d>
                    </m:oMath>
                  </m:oMathPara>
                </a14:m>
                <a:endParaRPr lang="ar-AE" sz="1600" b="0" dirty="0"/>
              </a:p>
              <a:p>
                <a:r>
                  <a:rPr lang="en-GB" sz="1600" b="1" dirty="0"/>
                  <a:t>3. Annual Loss Expectancy (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𝐴𝐿𝐸</m:t>
                    </m:r>
                  </m:oMath>
                </a14:m>
                <a:r>
                  <a:rPr lang="en-GB" sz="1600" b="1" dirty="0"/>
                  <a:t>):</a:t>
                </a:r>
                <a:br>
                  <a:rPr lang="en-GB" sz="1600" dirty="0"/>
                </a:br>
                <a:r>
                  <a:rPr lang="en-GB" sz="1600" dirty="0"/>
                  <a:t>The yearly expected loss is the product of the attack rate and the expected cost: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𝐴𝐿𝐸</m:t>
                      </m:r>
                      <m:r>
                        <a:rPr lang="en-GB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ar-AE" sz="1600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GB" sz="1600" dirty="0"/>
              </a:p>
              <a:p>
                <a:pPr>
                  <a:buNone/>
                </a:pPr>
                <a:r>
                  <a:rPr lang="en-GB" sz="1600" b="1" dirty="0"/>
                  <a:t>4. Probability of at least one attack in time T:</a:t>
                </a:r>
                <a:br>
                  <a:rPr lang="en-GB" sz="1600" dirty="0"/>
                </a:br>
                <a:r>
                  <a:rPr lang="en-GB" sz="1600" dirty="0"/>
                  <a:t>Over a time horizon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sz="1600" dirty="0"/>
                  <a:t>(measured in years), the probability that at least one attack happens is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ar-AE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1600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16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ar-AE" sz="1600" i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ar-AE" sz="1600" dirty="0"/>
              </a:p>
              <a:p>
                <a:r>
                  <a:rPr lang="en-GB" sz="1600" b="1" dirty="0"/>
                  <a:t>5. Expected loss over time T:</a:t>
                </a:r>
                <a:br>
                  <a:rPr lang="en-GB" sz="1600" dirty="0"/>
                </a:br>
                <a:r>
                  <a:rPr lang="en-GB" sz="1600" dirty="0"/>
                  <a:t>The total expected loss is simply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𝐴𝐿𝐸</m:t>
                      </m:r>
                      <m:r>
                        <a:rPr lang="en-GB" sz="1600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For one year (T = 1), this equals the ALE itself.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5A047B-1B19-578D-BF60-7B4A9EF26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574" y="1613108"/>
                <a:ext cx="11098924" cy="5132174"/>
              </a:xfrm>
              <a:prstGeom prst="rect">
                <a:avLst/>
              </a:prstGeom>
              <a:blipFill>
                <a:blip r:embed="rId3"/>
                <a:stretch>
                  <a:fillRect l="-275" t="-356" b="-5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8264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24250-534F-F96A-612C-7232E05F4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72E67-2B13-87A2-02B3-ED1D8A27E7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85156" y="549280"/>
            <a:ext cx="9341644" cy="694496"/>
          </a:xfrm>
        </p:spPr>
        <p:txBody>
          <a:bodyPr>
            <a:normAutofit fontScale="90000"/>
          </a:bodyPr>
          <a:lstStyle/>
          <a:p>
            <a:pPr lvl="0" algn="l"/>
            <a:br>
              <a:rPr lang="en-GB" dirty="0"/>
            </a:br>
            <a:br>
              <a:rPr lang="en-GB" dirty="0"/>
            </a:br>
            <a:r>
              <a:rPr lang="en-GB" dirty="0"/>
              <a:t>Stochastic Analysis of the Risk Model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2C1B1B-9C40-6FD8-C8F6-5DF30C98C195}"/>
              </a:ext>
            </a:extLst>
          </p:cNvPr>
          <p:cNvSpPr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lvl="0"/>
            <a:r>
              <a:rPr lang="en-GB"/>
              <a:t>nvl2 : 249025520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9A0935-7979-CA86-8BC4-D78888824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442335"/>
              </p:ext>
            </p:extLst>
          </p:nvPr>
        </p:nvGraphicFramePr>
        <p:xfrm>
          <a:off x="838200" y="1898174"/>
          <a:ext cx="10515600" cy="4206240"/>
        </p:xfrm>
        <a:graphic>
          <a:graphicData uri="http://schemas.openxmlformats.org/drawingml/2006/table">
            <a:tbl>
              <a:tblPr/>
              <a:tblGrid>
                <a:gridCol w="3266090">
                  <a:extLst>
                    <a:ext uri="{9D8B030D-6E8A-4147-A177-3AD203B41FA5}">
                      <a16:colId xmlns:a16="http://schemas.microsoft.com/office/drawing/2014/main" val="3327447190"/>
                    </a:ext>
                  </a:extLst>
                </a:gridCol>
                <a:gridCol w="3744310">
                  <a:extLst>
                    <a:ext uri="{9D8B030D-6E8A-4147-A177-3AD203B41FA5}">
                      <a16:colId xmlns:a16="http://schemas.microsoft.com/office/drawing/2014/main" val="27433590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60792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CTMC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CTMDP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519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Decisions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 choices, purely probabilistic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Allows decisions at key points (strategies matter)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82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Transitions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Fixed rates, exponential timing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Multiple actions per state, each with rates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423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Complexity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Simpler, smaller state-space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Larger, due to nondeterminism and strategies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674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Use Case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Reliability, availability, expected costs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Optimize policies, best/worst-case outcomes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967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Metrics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Probabilities, expected counts, cumulative rewards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Optimal expected rewards, policy-dependent probabilities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270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Key Advantage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Easy to compute and understand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Captures decision-making and control under uncertainty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226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5627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07EF8-0124-F76E-6A71-BB08CD747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F6CBF-D081-F058-7563-428803A13E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85156" y="549280"/>
            <a:ext cx="9341644" cy="694496"/>
          </a:xfrm>
        </p:spPr>
        <p:txBody>
          <a:bodyPr>
            <a:normAutofit fontScale="90000"/>
          </a:bodyPr>
          <a:lstStyle/>
          <a:p>
            <a:pPr lvl="0" algn="l"/>
            <a:br>
              <a:rPr lang="en-GB" dirty="0"/>
            </a:br>
            <a:br>
              <a:rPr lang="en-GB" dirty="0"/>
            </a:br>
            <a:r>
              <a:rPr lang="en-GB" dirty="0"/>
              <a:t>Stochastic Analysis of the Risk Model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E5D74-0C41-B72C-887E-4AD247D3160B}"/>
              </a:ext>
            </a:extLst>
          </p:cNvPr>
          <p:cNvSpPr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lvl="0"/>
            <a:r>
              <a:rPr lang="en-GB"/>
              <a:t>nvl2 : 249025520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3EBE15-CDB4-A052-6380-6ACD258FDED5}"/>
              </a:ext>
            </a:extLst>
          </p:cNvPr>
          <p:cNvSpPr txBox="1"/>
          <p:nvPr/>
        </p:nvSpPr>
        <p:spPr>
          <a:xfrm>
            <a:off x="804040" y="2412124"/>
            <a:ext cx="1102077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Immediate outcomes must be purely probabilistic: neither attacker nor defender can choose among them.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There should be no extra nondeterminism.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Vanishing chains of immediate outcomes are collapsed into a single probability distribution over terminal states.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This guarantees that collapsing fragments preserves:</a:t>
            </a:r>
          </a:p>
          <a:p>
            <a:r>
              <a:rPr lang="en-GB" dirty="0"/>
              <a:t>	a) Time-bounded reachability</a:t>
            </a:r>
          </a:p>
          <a:p>
            <a:r>
              <a:rPr lang="en-GB" dirty="0"/>
              <a:t>	b) Expected cumulative rewards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B8A788-9694-F9C3-8765-A68A9D87D90D}"/>
              </a:ext>
            </a:extLst>
          </p:cNvPr>
          <p:cNvSpPr txBox="1"/>
          <p:nvPr/>
        </p:nvSpPr>
        <p:spPr>
          <a:xfrm>
            <a:off x="804040" y="1784728"/>
            <a:ext cx="3182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CTMC : Collapsed rate approach</a:t>
            </a:r>
          </a:p>
        </p:txBody>
      </p:sp>
    </p:spTree>
    <p:extLst>
      <p:ext uri="{BB962C8B-B14F-4D97-AF65-F5344CB8AC3E}">
        <p14:creationId xmlns:p14="http://schemas.microsoft.com/office/powerpoint/2010/main" val="636558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9BC74-6537-5F96-B4AE-E72D1D237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F7F86-8469-164F-6384-53CD4465AA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85156" y="549280"/>
            <a:ext cx="9341644" cy="694496"/>
          </a:xfrm>
        </p:spPr>
        <p:txBody>
          <a:bodyPr>
            <a:normAutofit fontScale="90000"/>
          </a:bodyPr>
          <a:lstStyle/>
          <a:p>
            <a:pPr lvl="0" algn="l"/>
            <a:br>
              <a:rPr lang="en-GB" dirty="0"/>
            </a:br>
            <a:br>
              <a:rPr lang="en-GB" dirty="0"/>
            </a:br>
            <a:r>
              <a:rPr lang="en-GB" dirty="0"/>
              <a:t>Stochastic Analysis of the Risk Model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EE9F6-5B17-F977-BE6A-70F72FB45329}"/>
              </a:ext>
            </a:extLst>
          </p:cNvPr>
          <p:cNvSpPr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lvl="0"/>
            <a:r>
              <a:rPr lang="en-GB"/>
              <a:t>nvl2 : 249025520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8FD741-0427-1AC1-ECE2-CCCA6F37DD89}"/>
                  </a:ext>
                </a:extLst>
              </p:cNvPr>
              <p:cNvSpPr txBox="1"/>
              <p:nvPr/>
            </p:nvSpPr>
            <p:spPr>
              <a:xfrm>
                <a:off x="467710" y="1771931"/>
                <a:ext cx="5722207" cy="44146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Collapsed CTMC – Transition Rates :</a:t>
                </a:r>
              </a:p>
              <a:p>
                <a:endParaRPr lang="en-GB" b="1" dirty="0"/>
              </a:p>
              <a:p>
                <a:r>
                  <a:rPr lang="en-GB" dirty="0"/>
                  <a:t>Consider:</a:t>
                </a:r>
              </a:p>
              <a:p>
                <a:pPr lvl="1"/>
                <a:r>
                  <a:rPr lang="en-GB" b="1" dirty="0"/>
                  <a:t>r</a:t>
                </a:r>
                <a:r>
                  <a:rPr lang="en-GB" dirty="0"/>
                  <a:t>: attack rule, with attempt rate </a:t>
                </a:r>
                <a:r>
                  <a:rPr lang="el-GR" b="1" dirty="0"/>
                  <a:t>λ</a:t>
                </a:r>
                <a:r>
                  <a:rPr lang="en-GB" b="1" dirty="0"/>
                  <a:t>r</a:t>
                </a:r>
                <a:endParaRPr lang="en-GB" dirty="0"/>
              </a:p>
              <a:p>
                <a:pPr lvl="1"/>
                <a:r>
                  <a:rPr lang="en-GB" b="1" dirty="0"/>
                  <a:t>s</a:t>
                </a:r>
                <a:r>
                  <a:rPr lang="en-GB" dirty="0"/>
                  <a:t>: current state</a:t>
                </a:r>
              </a:p>
              <a:p>
                <a:pPr lvl="1"/>
                <a:r>
                  <a:rPr lang="en-GB" b="1" dirty="0"/>
                  <a:t>K(s, r)</a:t>
                </a:r>
                <a:r>
                  <a:rPr lang="en-GB" dirty="0"/>
                  <a:t>: number of enabled matches in state s</a:t>
                </a:r>
              </a:p>
              <a:p>
                <a:pPr lvl="1"/>
                <a:r>
                  <a:rPr lang="en-GB" b="1" dirty="0"/>
                  <a:t>p(o)</a:t>
                </a:r>
                <a:r>
                  <a:rPr lang="en-GB" b="1" dirty="0" err="1"/>
                  <a:t>r,s</a:t>
                </a:r>
                <a:r>
                  <a:rPr lang="en-GB" dirty="0"/>
                  <a:t>: probability of outcome o for a single match</a:t>
                </a:r>
              </a:p>
              <a:p>
                <a:pPr lvl="1"/>
                <a:endParaRPr lang="en-GB" dirty="0"/>
              </a:p>
              <a:p>
                <a:r>
                  <a:rPr lang="en-GB" b="1" dirty="0"/>
                  <a:t>Collapsed transition rate formula</a:t>
                </a:r>
                <a:r>
                  <a:rPr lang="en-GB" dirty="0"/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/>
                        <m:t>𝑞</m:t>
                      </m:r>
                      <m:d>
                        <m:dPr>
                          <m:ctrlPr>
                            <a:rPr lang="ar-AE" sz="1400" i="1"/>
                          </m:ctrlPr>
                        </m:dPr>
                        <m:e>
                          <m:r>
                            <a:rPr lang="ar-AE" sz="1400" i="1"/>
                            <m:t>𝑠</m:t>
                          </m:r>
                          <m:r>
                            <a:rPr lang="ar-AE" sz="1400"/>
                            <m:t>→</m:t>
                          </m:r>
                          <m:sSub>
                            <m:sSubPr>
                              <m:ctrlPr>
                                <a:rPr lang="ar-AE" sz="1400" i="1"/>
                              </m:ctrlPr>
                            </m:sSubPr>
                            <m:e>
                              <m:r>
                                <a:rPr lang="ar-AE" sz="1400" i="1"/>
                                <m:t>𝑠</m:t>
                              </m:r>
                            </m:e>
                            <m:sub>
                              <m:r>
                                <a:rPr lang="ar-AE" sz="1400" i="1"/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ar-AE" sz="1400"/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sz="1400" i="1"/>
                          </m:ctrlPr>
                        </m:naryPr>
                        <m:sub>
                          <m:r>
                            <a:rPr lang="ar-AE" sz="1400" i="1"/>
                            <m:t>𝑚</m:t>
                          </m:r>
                          <m:r>
                            <a:rPr lang="ar-AE" sz="1400"/>
                            <m:t>∈</m:t>
                          </m:r>
                          <m:r>
                            <a:rPr lang="ar-AE" sz="1400" i="1"/>
                            <m:t>𝑚𝑎𝑡𝑐</m:t>
                          </m:r>
                          <m:r>
                            <a:rPr lang="ar-AE" sz="1400" i="1"/>
                            <m:t>h</m:t>
                          </m:r>
                          <m:r>
                            <a:rPr lang="ar-AE" sz="1400" i="1"/>
                            <m:t>𝑒𝑠</m:t>
                          </m:r>
                          <m:d>
                            <m:dPr>
                              <m:sepChr m:val=","/>
                              <m:ctrlPr>
                                <a:rPr lang="ar-AE" sz="1400" i="1"/>
                              </m:ctrlPr>
                            </m:dPr>
                            <m:e>
                              <m:r>
                                <a:rPr lang="ar-AE" sz="1400" i="1"/>
                                <m:t>𝑠</m:t>
                              </m:r>
                            </m:e>
                            <m:e>
                              <m:r>
                                <a:rPr lang="ar-AE" sz="1400" i="1"/>
                                <m:t>𝑟</m:t>
                              </m:r>
                            </m:e>
                          </m:d>
                        </m:sub>
                        <m:sup/>
                        <m:e>
                          <m:f>
                            <m:fPr>
                              <m:ctrlPr>
                                <a:rPr lang="ar-AE" sz="1400" i="1"/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1400" i="1"/>
                                  </m:ctrlPr>
                                </m:sSubPr>
                                <m:e>
                                  <m:r>
                                    <a:rPr lang="ar-AE" sz="1400" i="1"/>
                                    <m:t>𝜆</m:t>
                                  </m:r>
                                </m:e>
                                <m:sub>
                                  <m:r>
                                    <a:rPr lang="ar-AE" sz="1400" i="1"/>
                                    <m:t>𝑟</m:t>
                                  </m:r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 sz="1400" i="1"/>
                                <m:t>𝐾</m:t>
                              </m:r>
                              <m:d>
                                <m:dPr>
                                  <m:sepChr m:val=","/>
                                  <m:ctrlPr>
                                    <a:rPr lang="ar-AE" sz="1400" i="1"/>
                                  </m:ctrlPr>
                                </m:dPr>
                                <m:e>
                                  <m:r>
                                    <a:rPr lang="ar-AE" sz="1400" i="1"/>
                                    <m:t>𝑠</m:t>
                                  </m:r>
                                </m:e>
                                <m:e>
                                  <m:r>
                                    <a:rPr lang="ar-AE" sz="1400" i="1"/>
                                    <m:t>𝑟</m:t>
                                  </m:r>
                                </m:e>
                              </m:d>
                            </m:den>
                          </m:f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 ∗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ar-AE" sz="1400" dirty="0"/>
              </a:p>
              <a:p>
                <a:r>
                  <a:rPr lang="en-GB" dirty="0"/>
                  <a:t>If all matches have the </a:t>
                </a:r>
                <a:r>
                  <a:rPr lang="en-GB" b="1" dirty="0"/>
                  <a:t>same outcomes</a:t>
                </a:r>
                <a:r>
                  <a:rPr lang="en-GB" dirty="0"/>
                  <a:t>, simplified formula:</a:t>
                </a:r>
              </a:p>
              <a:p>
                <a:endParaRPr lang="en-GB" i="1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/>
                        <m:t>𝑞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𝑠</m:t>
                          </m:r>
                          <m:r>
                            <a:rPr lang="ar-AE"/>
                            <m:t>→</m:t>
                          </m:r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𝑠</m:t>
                              </m:r>
                            </m:e>
                            <m:sub>
                              <m:r>
                                <a:rPr lang="ar-AE" i="1"/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ar-AE"/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𝜆</m:t>
                          </m:r>
                        </m:e>
                        <m:sub>
                          <m:r>
                            <a:rPr lang="ar-AE" i="1"/>
                            <m:t>𝑟</m:t>
                          </m:r>
                        </m:sub>
                      </m:sSub>
                      <m:r>
                        <a:rPr lang="ar-AE"/>
                        <m:t>⋅</m:t>
                      </m:r>
                      <m:r>
                        <a:rPr lang="ar-AE" i="1"/>
                        <m:t>𝑝</m:t>
                      </m:r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GB" i="1"/>
                            <m:t>outcome</m:t>
                          </m:r>
                        </m:e>
                        <m:e>
                          <m:r>
                            <a:rPr lang="ar-AE"/>
                            <m:t>=</m:t>
                          </m:r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𝑠</m:t>
                              </m:r>
                            </m:e>
                            <m:sub>
                              <m:r>
                                <a:rPr lang="ar-AE" i="1"/>
                                <m:t>𝑜</m:t>
                              </m:r>
                            </m:sub>
                          </m:sSub>
                          <m:r>
                            <a:rPr lang="ar-AE"/>
                            <m:t>∣</m:t>
                          </m:r>
                          <m:r>
                            <a:rPr lang="ar-AE" i="1"/>
                            <m:t>𝑠𝑟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8FD741-0427-1AC1-ECE2-CCCA6F37D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710" y="1771931"/>
                <a:ext cx="5722207" cy="4414670"/>
              </a:xfrm>
              <a:prstGeom prst="rect">
                <a:avLst/>
              </a:prstGeom>
              <a:blipFill>
                <a:blip r:embed="rId3"/>
                <a:stretch>
                  <a:fillRect l="-959" t="-829" r="-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B59CDB-65AF-AA55-6168-9D6D2693E4F4}"/>
                  </a:ext>
                </a:extLst>
              </p:cNvPr>
              <p:cNvSpPr txBox="1"/>
              <p:nvPr/>
            </p:nvSpPr>
            <p:spPr>
              <a:xfrm>
                <a:off x="6268746" y="1771931"/>
                <a:ext cx="5722207" cy="2634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b="1" dirty="0"/>
                  <a:t>Expected Cost per Rule :</a:t>
                </a:r>
              </a:p>
              <a:p>
                <a:pPr>
                  <a:buNone/>
                </a:pPr>
                <a:endParaRPr lang="en-GB" b="1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 Let </a:t>
                </a:r>
                <a:r>
                  <a:rPr lang="en-GB" b="1" dirty="0"/>
                  <a:t>C(o)</a:t>
                </a:r>
                <a:r>
                  <a:rPr lang="en-GB" dirty="0"/>
                  <a:t> be the cost associated with outcome o.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 The </a:t>
                </a:r>
                <a:r>
                  <a:rPr lang="en-GB" b="1" dirty="0"/>
                  <a:t>expected cost per unit time</a:t>
                </a:r>
                <a:r>
                  <a:rPr lang="en-GB" dirty="0"/>
                  <a:t> contributed by a single rule r:</a:t>
                </a:r>
              </a:p>
              <a:p>
                <a:pPr>
                  <a:buNone/>
                </a:pPr>
                <a:r>
                  <a:rPr lang="en-GB" dirty="0"/>
                  <a:t>	</a:t>
                </a:r>
                <a:r>
                  <a:rPr lang="ar-A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  <m:sup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nary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𝑜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d>
                      </m:e>
                    </m:d>
                  </m:oMath>
                </a14:m>
                <a:endParaRPr lang="en-GB" dirty="0"/>
              </a:p>
              <a:p>
                <a:pPr>
                  <a:buNone/>
                </a:pPr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Intuition: multiply the </a:t>
                </a:r>
                <a:r>
                  <a:rPr lang="en-GB" b="1" dirty="0"/>
                  <a:t>attack rate</a:t>
                </a:r>
                <a:r>
                  <a:rPr lang="en-GB" dirty="0"/>
                  <a:t> by the </a:t>
                </a:r>
                <a:r>
                  <a:rPr lang="en-GB" b="1" dirty="0"/>
                  <a:t>average cost of outcomes</a:t>
                </a:r>
                <a:r>
                  <a:rPr lang="en-GB" dirty="0"/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B59CDB-65AF-AA55-6168-9D6D2693E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746" y="1771931"/>
                <a:ext cx="5722207" cy="2634504"/>
              </a:xfrm>
              <a:prstGeom prst="rect">
                <a:avLst/>
              </a:prstGeom>
              <a:blipFill>
                <a:blip r:embed="rId4"/>
                <a:stretch>
                  <a:fillRect l="-852" t="-1389" b="-30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259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ADFC0-6E58-3CF0-4E8D-63493D8D0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6DD57-49EA-64E5-B361-47704C78F8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85156" y="549280"/>
            <a:ext cx="9341644" cy="694496"/>
          </a:xfrm>
        </p:spPr>
        <p:txBody>
          <a:bodyPr>
            <a:normAutofit fontScale="90000"/>
          </a:bodyPr>
          <a:lstStyle/>
          <a:p>
            <a:pPr lvl="0" algn="l"/>
            <a:br>
              <a:rPr lang="en-GB" dirty="0"/>
            </a:br>
            <a:br>
              <a:rPr lang="en-GB" dirty="0"/>
            </a:br>
            <a:r>
              <a:rPr lang="en-GB" dirty="0"/>
              <a:t>Stochastic Analysis of the Risk Model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EDEF1C-A75B-A7EA-252C-DEC06838C09A}"/>
              </a:ext>
            </a:extLst>
          </p:cNvPr>
          <p:cNvSpPr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lvl="0"/>
            <a:r>
              <a:rPr lang="en-GB" dirty="0"/>
              <a:t>nvl2 : 249025520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0478E4-318D-F90A-8B12-2E77364DE23E}"/>
              </a:ext>
            </a:extLst>
          </p:cNvPr>
          <p:cNvSpPr txBox="1"/>
          <p:nvPr/>
        </p:nvSpPr>
        <p:spPr>
          <a:xfrm>
            <a:off x="1033463" y="1871663"/>
            <a:ext cx="1064105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Properties Verified :</a:t>
            </a:r>
            <a:br>
              <a:rPr lang="en-GB" b="1" dirty="0"/>
            </a:br>
            <a:br>
              <a:rPr lang="en-GB" b="1" dirty="0"/>
            </a:br>
            <a:r>
              <a:rPr lang="en-GB" b="1" dirty="0"/>
              <a:t>1. P =?[F &lt;= 1.0 "harm"]</a:t>
            </a:r>
            <a:br>
              <a:rPr lang="en-GB" dirty="0"/>
            </a:br>
            <a:r>
              <a:rPr lang="en-GB" dirty="0"/>
              <a:t>This property asks: </a:t>
            </a:r>
            <a:r>
              <a:rPr lang="en-GB" i="1" dirty="0"/>
              <a:t>“What is the probability that the system experiences the ‘harm’ event within 1.0 time units?”</a:t>
            </a:r>
            <a:br>
              <a:rPr lang="en-GB" dirty="0"/>
            </a:br>
            <a:r>
              <a:rPr lang="en-GB" dirty="0"/>
              <a:t>It tells us how likely it is that a risky or harmful event occurs within a given short time horizon.</a:t>
            </a:r>
          </a:p>
          <a:p>
            <a:endParaRPr lang="en-GB" dirty="0"/>
          </a:p>
          <a:p>
            <a:r>
              <a:rPr lang="en-GB" b="1" dirty="0"/>
              <a:t>2. R{"cost"} =?[C &lt;= 1.0]</a:t>
            </a:r>
            <a:br>
              <a:rPr lang="en-GB" dirty="0"/>
            </a:br>
            <a:r>
              <a:rPr lang="en-GB" dirty="0"/>
              <a:t>This property asks: </a:t>
            </a:r>
            <a:r>
              <a:rPr lang="en-GB" i="1" dirty="0"/>
              <a:t>“What is the expected accumulated cost over 1.0 time units?”</a:t>
            </a:r>
            <a:br>
              <a:rPr lang="en-GB" dirty="0"/>
            </a:br>
            <a:r>
              <a:rPr lang="en-GB" dirty="0"/>
              <a:t>It quantifies the average impact or loss due to events in the system during that period.</a:t>
            </a:r>
          </a:p>
          <a:p>
            <a:endParaRPr lang="en-GB" dirty="0"/>
          </a:p>
          <a:p>
            <a:r>
              <a:rPr lang="en-GB" dirty="0"/>
              <a:t>Thus,</a:t>
            </a:r>
          </a:p>
          <a:p>
            <a:r>
              <a:rPr lang="en-GB" dirty="0"/>
              <a:t>The first property measures the </a:t>
            </a:r>
            <a:r>
              <a:rPr lang="en-GB" b="1" dirty="0"/>
              <a:t>risk likelihood</a:t>
            </a:r>
            <a:r>
              <a:rPr lang="en-GB" dirty="0"/>
              <a:t> of a harmful event in a short timeframe.</a:t>
            </a:r>
          </a:p>
          <a:p>
            <a:r>
              <a:rPr lang="en-GB" dirty="0"/>
              <a:t>The second property measures the </a:t>
            </a:r>
            <a:r>
              <a:rPr lang="en-GB" b="1" dirty="0"/>
              <a:t>expected impact or cost</a:t>
            </a:r>
            <a:r>
              <a:rPr lang="en-GB" dirty="0"/>
              <a:t> from events during the same timeframe.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841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46237607-326E-4362-8EE7-96225F4572E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lIns="0"/>
          <a:lstStyle/>
          <a:p>
            <a:pPr lvl="0"/>
            <a:r>
              <a:rPr lang="en-GB" dirty="0"/>
              <a:t>Challenges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4E096B49-E015-45CF-8758-04BB1120200C}"/>
              </a:ext>
            </a:extLst>
          </p:cNvPr>
          <p:cNvCxnSpPr/>
          <p:nvPr/>
        </p:nvCxnSpPr>
        <p:spPr>
          <a:xfrm>
            <a:off x="10178140" y="0"/>
            <a:ext cx="2013856" cy="1415143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4" name="Straight Connector 11">
            <a:extLst>
              <a:ext uri="{FF2B5EF4-FFF2-40B4-BE49-F238E27FC236}">
                <a16:creationId xmlns:a16="http://schemas.microsoft.com/office/drawing/2014/main" id="{0DB0DB0F-386B-4ECE-909C-5C7417A9501B}"/>
              </a:ext>
            </a:extLst>
          </p:cNvPr>
          <p:cNvCxnSpPr/>
          <p:nvPr/>
        </p:nvCxnSpPr>
        <p:spPr>
          <a:xfrm>
            <a:off x="8752115" y="0"/>
            <a:ext cx="3439881" cy="576940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sp>
        <p:nvSpPr>
          <p:cNvPr id="5" name="TextBox 14">
            <a:extLst>
              <a:ext uri="{FF2B5EF4-FFF2-40B4-BE49-F238E27FC236}">
                <a16:creationId xmlns:a16="http://schemas.microsoft.com/office/drawing/2014/main" id="{18BF0E77-8264-4C18-B0CB-A3892F6A9437}"/>
              </a:ext>
            </a:extLst>
          </p:cNvPr>
          <p:cNvSpPr txBox="1"/>
          <p:nvPr/>
        </p:nvSpPr>
        <p:spPr>
          <a:xfrm>
            <a:off x="504492" y="1533832"/>
            <a:ext cx="8953833" cy="29608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0" cap="none" spc="0" baseline="0" dirty="0">
                <a:solidFill>
                  <a:srgbClr val="000000"/>
                </a:solidFill>
                <a:uFillTx/>
                <a:latin typeface="Aptos"/>
              </a:rPr>
              <a:t>Modelling a large-scale IT systems as attributed graphs can lead to scalability and computational complexity.</a:t>
            </a:r>
          </a:p>
          <a:p>
            <a:pPr marL="342900" marR="0" lvl="0" indent="-3429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0" cap="none" spc="0" baseline="0" dirty="0">
                <a:solidFill>
                  <a:srgbClr val="000000"/>
                </a:solidFill>
                <a:uFillTx/>
                <a:latin typeface="Aptos"/>
              </a:rPr>
              <a:t>Risk analysis accuracy depends on high-quality, up-to-date system data, which may be lacking in practice.</a:t>
            </a:r>
          </a:p>
          <a:p>
            <a:pPr marL="342900" lvl="0" indent="-342900">
              <a:lnSpc>
                <a:spcPct val="150000"/>
              </a:lnSpc>
              <a:buSzPct val="100000"/>
              <a:buFont typeface="Courier New" pitchFamily="49"/>
              <a:buChar char="o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kern="0" dirty="0">
                <a:solidFill>
                  <a:srgbClr val="000000"/>
                </a:solidFill>
                <a:latin typeface="Aptos"/>
              </a:rPr>
              <a:t>Purely probabilistic, cannot model decisions or policy choices.</a:t>
            </a:r>
          </a:p>
          <a:p>
            <a:pPr marL="342900" lvl="0" indent="-342900">
              <a:lnSpc>
                <a:spcPct val="150000"/>
              </a:lnSpc>
              <a:buSzPct val="100000"/>
              <a:buFont typeface="Courier New" pitchFamily="49"/>
              <a:buChar char="o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kern="0" dirty="0">
                <a:solidFill>
                  <a:srgbClr val="000000"/>
                </a:solidFill>
                <a:latin typeface="Aptos"/>
              </a:rPr>
              <a:t>Handling rare events may require approximations or long simulation times.</a:t>
            </a:r>
            <a:endParaRPr lang="en-GB" sz="1800" b="0" i="0" u="none" strike="noStrike" kern="0" cap="none" spc="0" baseline="0" dirty="0">
              <a:solidFill>
                <a:srgbClr val="000000"/>
              </a:solidFill>
              <a:uFillTx/>
              <a:latin typeface="Aptos"/>
            </a:endParaRPr>
          </a:p>
          <a:p>
            <a:pPr marL="342900" marR="0" lvl="0" indent="-3429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0" cap="none" spc="0" baseline="0" dirty="0">
                <a:solidFill>
                  <a:srgbClr val="000000"/>
                </a:solidFill>
                <a:uFillTx/>
                <a:latin typeface="Aptos"/>
              </a:rPr>
              <a:t>Interpretability and actionability of results is vital for practical adoption.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78C3D-EDD0-43DA-8438-E9A656B86DBC}"/>
              </a:ext>
            </a:extLst>
          </p:cNvPr>
          <p:cNvSpPr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lvl="0"/>
            <a:r>
              <a:rPr lang="en-GB"/>
              <a:t>nvl2 : 249025520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7ACD1-E291-4093-9E76-F6B066C3FE7A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GB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%7bBCD96017-B39D-40B4-97F1-742ED1FF8F72%7dtf22318419_win32</Template>
  <TotalTime>1510</TotalTime>
  <Words>1692</Words>
  <Application>Microsoft Office PowerPoint</Application>
  <PresentationFormat>Widescreen</PresentationFormat>
  <Paragraphs>227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Cambria Math</vt:lpstr>
      <vt:lpstr>Courier New</vt:lpstr>
      <vt:lpstr>Tenorite</vt:lpstr>
      <vt:lpstr>Monoline</vt:lpstr>
      <vt:lpstr>Risk Modelling and Analysis for IT Systems using Probabilistic Graph Rewriting Rules</vt:lpstr>
      <vt:lpstr>Problem Domain</vt:lpstr>
      <vt:lpstr>About Project</vt:lpstr>
      <vt:lpstr>PowerPoint Presentation</vt:lpstr>
      <vt:lpstr>Type of Graph Used in Modelling</vt:lpstr>
      <vt:lpstr>PowerPoint Presentation</vt:lpstr>
      <vt:lpstr>Fundamental Concepts</vt:lpstr>
      <vt:lpstr>Example of Graph Transformation</vt:lpstr>
      <vt:lpstr>Risk Specification</vt:lpstr>
      <vt:lpstr>Type graph and Instance Graph</vt:lpstr>
      <vt:lpstr>Example of Implementation</vt:lpstr>
      <vt:lpstr>PowerPoint Presentation</vt:lpstr>
      <vt:lpstr>  Quantitative risk Estimation  </vt:lpstr>
      <vt:lpstr>  Quantitative risk Estimation  </vt:lpstr>
      <vt:lpstr>  Stochastic Analysis of the Risk Model  </vt:lpstr>
      <vt:lpstr>  Stochastic Analysis of the Risk Model  </vt:lpstr>
      <vt:lpstr>  Stochastic Analysis of the Risk Model  </vt:lpstr>
      <vt:lpstr>  Stochastic Analysis of the Risk Model  </vt:lpstr>
      <vt:lpstr>Challenges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Modelling and Analysis for IT Systems using Probabilistic Graph Rewriting Rules</dc:title>
  <dc:creator>Lad, Neel Vinod</dc:creator>
  <cp:lastModifiedBy>Lad, Neel Vinod</cp:lastModifiedBy>
  <cp:revision>83</cp:revision>
  <dcterms:created xsi:type="dcterms:W3CDTF">2025-08-04T02:37:42Z</dcterms:created>
  <dcterms:modified xsi:type="dcterms:W3CDTF">2025-09-11T08:35:05Z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